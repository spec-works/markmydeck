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Masters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d3ae0853c77e4c7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Id1"/>
  </p:sldMasterIdLst>
  <p:sldIdLst>
    <p:sldId xmlns:r="http://schemas.openxmlformats.org/officeDocument/2006/relationships" id="256" r:id="rId2"/>
    <p:sldId xmlns:r="http://schemas.openxmlformats.org/officeDocument/2006/relationships" id="257" r:id="rId3"/>
    <p:sldId xmlns:r="http://schemas.openxmlformats.org/officeDocument/2006/relationships" id="258" r:id="rId4"/>
    <p:sldId xmlns:r="http://schemas.openxmlformats.org/officeDocument/2006/relationships" id="259" r:id="rId5"/>
    <p:sldId xmlns:r="http://schemas.openxmlformats.org/officeDocument/2006/relationships" id="260" r:id="rId6"/>
    <p:sldId xmlns:r="http://schemas.openxmlformats.org/officeDocument/2006/relationships" id="261" r:id="rId7"/>
    <p:sldId xmlns:r="http://schemas.openxmlformats.org/officeDocument/2006/relationships" id="262" r:id="rId8"/>
    <p:sldId xmlns:r="http://schemas.openxmlformats.org/officeDocument/2006/relationships" id="263" r:id="rId9"/>
  </p:sldIdLst>
  <p:sldSz cx="9144000" cy="6858000" type="custom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1" /><Relationship Type="http://schemas.openxmlformats.org/officeDocument/2006/relationships/slide" Target="/ppt/slides/slide1.xml" Id="rId2" /><Relationship Type="http://schemas.openxmlformats.org/officeDocument/2006/relationships/slide" Target="/ppt/slides/slide2.xml" Id="rId3" /><Relationship Type="http://schemas.openxmlformats.org/officeDocument/2006/relationships/slide" Target="/ppt/slides/slide3.xml" Id="rId4" /><Relationship Type="http://schemas.openxmlformats.org/officeDocument/2006/relationships/slide" Target="/ppt/slides/slide4.xml" Id="rId5" /><Relationship Type="http://schemas.openxmlformats.org/officeDocument/2006/relationships/slide" Target="/ppt/slides/slide5.xml" Id="rId6" /><Relationship Type="http://schemas.openxmlformats.org/officeDocument/2006/relationships/slide" Target="/ppt/slides/slide6.xml" Id="rId7" /><Relationship Type="http://schemas.openxmlformats.org/officeDocument/2006/relationships/slide" Target="/ppt/slides/slide7.xml" Id="rId8" /><Relationship Type="http://schemas.openxmlformats.org/officeDocument/2006/relationships/slide" Target="/ppt/slides/slide8.xml" Id="rId9" /></Relationships>
</file>

<file path=ppt/slideLayouts/slideLayout1.xml><?xml version="1.0" encoding="utf-8"?>
<p:sldLayout xmlns:p="http://schemas.openxmlformats.org/presentationml/2006/main" type="blank">
  <p:cSld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theme" Target="/ppt/slideMasters/theme/theme1.xml" Id="rId2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1"/>
  </p:sldLayoutIdLst>
</p:sldMaster>
</file>

<file path=ppt/slideMasters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</a:ln>
        <a:ln w="12700" cap="flat" cmpd="sng" algn="ctr">
          <a:solidFill>
            <a:schemeClr val="phClr"/>
          </a:solidFill>
        </a:ln>
        <a:ln w="19050" cap="flat" cmpd="sng" algn="ctr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hyperlink" Target="https://github.com/spec-works/MarkMyDeck" TargetMode="External" Id="R69f08ad215fe41e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74638"/>
            <a:ext cx="8229600" cy="990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rtlCol="0" anchor="b"/>
          <a:lstStyle xmlns:a="http://schemas.openxmlformats.org/drawingml/2006/main"/>
          <a:p xmlns:a="http://schemas.openxmlformats.org/drawingml/2006/main">
            <a:r>
              <a:rPr lang="en-US" sz="3600" b="1" dirty="0">
                <a:solidFill>
                  <a:srgbClr val="333333"/>
                </a:solidFill>
                <a:latin typeface="Calibri"/>
              </a:rPr>
              <a:t>MarkMyDeck Demo</a:t>
            </a:r>
          </a:p>
        </p:txBody>
      </p:sp>
      <p:sp>
        <p:nvSpPr>
          <p:cNvPr id="3" name="Conten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48118"/>
            <a:ext cx="8229600" cy="513524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rtlCol="0" anchor="t"/>
          <a:lstStyle xmlns:a="http://schemas.openxmlformats.org/drawingml/2006/main"/>
          <a:p xmlns:a="http://schemas.openxmlformats.org/drawingml/2006/main">
            <a:r>
              <a:rPr lang="en-US" sz="1800" dirty="0">
                <a:solidFill>
                  <a:srgbClr val="333333"/>
                </a:solidFill>
                <a:latin typeface="Calibri"/>
              </a:rPr>
              <a:t>Welcome to MarkMyDeck — a Markdown to PowerPoint converter.</a:t>
            </a:r>
          </a:p>
        </p:txBody>
      </p:sp>
    </p:spTree>
  </p:cSld>
  <p:clrMapOvr>
    <a:masterClrMapping xmlns:a="http://schemas.openxmlformats.org/drawingml/2006/main"/>
  </p:clrMapOvr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74638"/>
            <a:ext cx="8229600" cy="990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rtlCol="0" anchor="b"/>
          <a:lstStyle xmlns:a="http://schemas.openxmlformats.org/drawingml/2006/main"/>
          <a:p xmlns:a="http://schemas.openxmlformats.org/drawingml/2006/main">
            <a:r>
              <a:rPr lang="en-US" sz="2800" b="1" dirty="0">
                <a:solidFill>
                  <a:srgbClr val="333333"/>
                </a:solidFill>
                <a:latin typeface="Calibri"/>
              </a:rPr>
              <a:t>Features</a:t>
            </a:r>
          </a:p>
        </p:txBody>
      </p:sp>
      <p:sp>
        <p:nvSpPr>
          <p:cNvPr id="3" name="Conten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48118"/>
            <a:ext cx="8229600" cy="513524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rtlCol="0" anchor="t"/>
          <a:lstStyle xmlns:a="http://schemas.openxmlformats.org/drawingml/2006/main"/>
          <a:p xmlns:a="http://schemas.openxmlformats.org/drawingml/2006/main">
            <a:pPr marL="457200" indent="-228600">
              <a:spcBef>
                <a:spcPts val="100"/>
              </a:spcBef>
            </a:pPr>
            <a:r>
              <a:rPr lang="en-US" sz="1800" dirty="0">
                <a:solidFill>
                  <a:srgbClr val="333333"/>
                </a:solidFill>
                <a:latin typeface="Calibri"/>
              </a:rPr>
              <a:t>• </a:t>
            </a:r>
            <a:r>
              <a:rPr lang="en-US" sz="1800" dirty="0">
                <a:solidFill>
                  <a:srgbClr val="333333"/>
                </a:solidFill>
                <a:latin typeface="Calibri"/>
              </a:rPr>
              <a:t>Convert Markdown to </a:t>
            </a:r>
            <a:r>
              <a:rPr lang="en-US" sz="1400" dirty="0">
                <a:solidFill>
                  <a:srgbClr val="333333"/>
                </a:solidFill>
                <a:latin typeface="Consolas"/>
              </a:rPr>
              <a:t>.pptx</a:t>
            </a:r>
            <a:r>
              <a:rPr lang="en-US" sz="1800" dirty="0">
                <a:solidFill>
                  <a:srgbClr val="333333"/>
                </a:solidFill>
                <a:latin typeface="Calibri"/>
              </a:rPr>
              <a:t> presentations</a:t>
            </a:r>
          </a:p>
          <a:p xmlns:a="http://schemas.openxmlformats.org/drawingml/2006/main">
            <a:pPr marL="457200" indent="-228600">
              <a:spcBef>
                <a:spcPts val="100"/>
              </a:spcBef>
            </a:pPr>
            <a:r>
              <a:rPr lang="en-US" sz="1800" dirty="0">
                <a:solidFill>
                  <a:srgbClr val="333333"/>
                </a:solidFill>
                <a:latin typeface="Calibri"/>
              </a:rPr>
              <a:t>• </a:t>
            </a:r>
            <a:r>
              <a:rPr lang="en-US" sz="1800" dirty="0">
                <a:solidFill>
                  <a:srgbClr val="333333"/>
                </a:solidFill>
                <a:latin typeface="Calibri"/>
              </a:rPr>
              <a:t>Syntax highlighting for code blocks</a:t>
            </a:r>
          </a:p>
          <a:p xmlns:a="http://schemas.openxmlformats.org/drawingml/2006/main">
            <a:pPr marL="457200" indent="-228600">
              <a:spcBef>
                <a:spcPts val="100"/>
              </a:spcBef>
            </a:pPr>
            <a:r>
              <a:rPr lang="en-US" sz="1800" dirty="0">
                <a:solidFill>
                  <a:srgbClr val="333333"/>
                </a:solidFill>
                <a:latin typeface="Calibri"/>
              </a:rPr>
              <a:t>• </a:t>
            </a:r>
            <a:r>
              <a:rPr lang="en-US" sz="1800" dirty="0">
                <a:solidFill>
                  <a:srgbClr val="333333"/>
                </a:solidFill>
                <a:latin typeface="Calibri"/>
              </a:rPr>
              <a:t>Tables, lists, links, and more</a:t>
            </a:r>
          </a:p>
          <a:p xmlns:a="http://schemas.openxmlformats.org/drawingml/2006/main">
            <a:pPr marL="457200" indent="-228600">
              <a:spcBef>
                <a:spcPts val="100"/>
              </a:spcBef>
            </a:pPr>
            <a:r>
              <a:rPr lang="en-US" sz="1800" dirty="0">
                <a:solidFill>
                  <a:srgbClr val="333333"/>
                </a:solidFill>
                <a:latin typeface="Calibri"/>
              </a:rPr>
              <a:t>• </a:t>
            </a:r>
            <a:r>
              <a:rPr lang="en-US" sz="1800" dirty="0">
                <a:solidFill>
                  <a:srgbClr val="333333"/>
                </a:solidFill>
                <a:latin typeface="Calibri"/>
              </a:rPr>
              <a:t>Built with the same libraries as </a:t>
            </a:r>
            <a:r>
              <a:rPr lang="en-US" sz="1800" b="1" dirty="0">
                <a:solidFill>
                  <a:srgbClr val="333333"/>
                </a:solidFill>
                <a:latin typeface="Calibri"/>
              </a:rPr>
              <a:t>MarkMyWord</a:t>
            </a:r>
          </a:p>
        </p:txBody>
      </p:sp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74638"/>
            <a:ext cx="8229600" cy="990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rtlCol="0" anchor="b"/>
          <a:lstStyle xmlns:a="http://schemas.openxmlformats.org/drawingml/2006/main"/>
          <a:p xmlns:a="http://schemas.openxmlformats.org/drawingml/2006/main">
            <a:r>
              <a:rPr lang="en-US" sz="2800" b="1" dirty="0">
                <a:solidFill>
                  <a:srgbClr val="333333"/>
                </a:solidFill>
                <a:latin typeface="Calibri"/>
              </a:rPr>
              <a:t>Code Example</a:t>
            </a:r>
          </a:p>
        </p:txBody>
      </p:sp>
      <p:sp>
        <p:nvSpPr>
          <p:cNvPr id="3" name="Conten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48118"/>
            <a:ext cx="8229600" cy="3200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rtlCol="0" anchor="t"/>
          <a:lstStyle xmlns:a="http://schemas.openxmlformats.org/drawingml/2006/main"/>
          <a:p xmlns:a="http://schemas.openxmlformats.org/drawingml/2006/main">
            <a:r>
              <a:rPr lang="en-US" sz="1800" dirty="0">
                <a:solidFill>
                  <a:srgbClr val="333333"/>
                </a:solidFill>
                <a:latin typeface="Calibri"/>
              </a:rPr>
              <a:t>Here's a JSON snippet with syntax highlighting:</a:t>
            </a:r>
          </a:p>
        </p:txBody>
      </p:sp>
      <p:sp>
        <p:nvSpPr>
          <p:cNvPr id="4" name="Code 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859598"/>
            <a:ext cx="8229600" cy="167639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5F5"/>
          </a:solidFill>
        </p:spPr>
        <p:txBody>
          <a:bodyPr xmlns:a="http://schemas.openxmlformats.org/drawingml/2006/main" wrap="square" lIns="91440" tIns="45720" rIns="91440" bIns="45720" rtlCol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dirty="0">
                <a:solidFill>
                  <a:srgbClr val="4A4A4A"/>
                </a:solidFill>
                <a:latin typeface="Consolas"/>
              </a:rPr>
              <a:t>{</a:t>
            </a:r>
          </a:p>
          <a:p xmlns:a="http://schemas.openxmlformats.org/drawingml/2006/main"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dirty="0">
                <a:solidFill>
                  <a:srgbClr val="383838"/>
                </a:solidFill>
                <a:latin typeface="Consolas"/>
              </a:rPr>
              <a:t>  </a:t>
            </a:r>
            <a:r>
              <a:rPr lang="en-US" sz="1400" dirty="0">
                <a:solidFill>
                  <a:srgbClr val="4FC1FF"/>
                </a:solidFill>
                <a:latin typeface="Consolas"/>
              </a:rPr>
              <a:t>"name"</a:t>
            </a:r>
            <a:r>
              <a:rPr lang="en-US" sz="1400" dirty="0">
                <a:solidFill>
                  <a:srgbClr val="4A4A4A"/>
                </a:solidFill>
                <a:latin typeface="Consolas"/>
              </a:rPr>
              <a:t>:</a:t>
            </a:r>
            <a:r>
              <a:rPr lang="en-US" sz="1400" dirty="0">
                <a:solidFill>
                  <a:srgbClr val="383838"/>
                </a:solidFill>
                <a:latin typeface="Consolas"/>
              </a:rPr>
              <a:t> </a:t>
            </a:r>
            <a:r>
              <a:rPr lang="en-US" sz="1400" dirty="0">
                <a:solidFill>
                  <a:srgbClr val="CE9178"/>
                </a:solidFill>
                <a:latin typeface="Consolas"/>
              </a:rPr>
              <a:t>"MarkMyDeck"</a:t>
            </a:r>
            <a:r>
              <a:rPr lang="en-US" sz="1400" dirty="0">
                <a:solidFill>
                  <a:srgbClr val="4A4A4A"/>
                </a:solidFill>
                <a:latin typeface="Consolas"/>
              </a:rPr>
              <a:t>,</a:t>
            </a:r>
          </a:p>
          <a:p xmlns:a="http://schemas.openxmlformats.org/drawingml/2006/main"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dirty="0">
                <a:solidFill>
                  <a:srgbClr val="383838"/>
                </a:solidFill>
                <a:latin typeface="Consolas"/>
              </a:rPr>
              <a:t>  </a:t>
            </a:r>
            <a:r>
              <a:rPr lang="en-US" sz="1400" dirty="0">
                <a:solidFill>
                  <a:srgbClr val="4FC1FF"/>
                </a:solidFill>
                <a:latin typeface="Consolas"/>
              </a:rPr>
              <a:t>"version"</a:t>
            </a:r>
            <a:r>
              <a:rPr lang="en-US" sz="1400" dirty="0">
                <a:solidFill>
                  <a:srgbClr val="4A4A4A"/>
                </a:solidFill>
                <a:latin typeface="Consolas"/>
              </a:rPr>
              <a:t>:</a:t>
            </a:r>
            <a:r>
              <a:rPr lang="en-US" sz="1400" dirty="0">
                <a:solidFill>
                  <a:srgbClr val="383838"/>
                </a:solidFill>
                <a:latin typeface="Consolas"/>
              </a:rPr>
              <a:t> </a:t>
            </a:r>
            <a:r>
              <a:rPr lang="en-US" sz="1400" dirty="0">
                <a:solidFill>
                  <a:srgbClr val="CE9178"/>
                </a:solidFill>
                <a:latin typeface="Consolas"/>
              </a:rPr>
              <a:t>"0.1.0"</a:t>
            </a:r>
            <a:r>
              <a:rPr lang="en-US" sz="1400" dirty="0">
                <a:solidFill>
                  <a:srgbClr val="4A4A4A"/>
                </a:solidFill>
                <a:latin typeface="Consolas"/>
              </a:rPr>
              <a:t>,</a:t>
            </a:r>
          </a:p>
          <a:p xmlns:a="http://schemas.openxmlformats.org/drawingml/2006/main"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dirty="0">
                <a:solidFill>
                  <a:srgbClr val="383838"/>
                </a:solidFill>
                <a:latin typeface="Consolas"/>
              </a:rPr>
              <a:t>  </a:t>
            </a:r>
            <a:r>
              <a:rPr lang="en-US" sz="1400" dirty="0">
                <a:solidFill>
                  <a:srgbClr val="4FC1FF"/>
                </a:solidFill>
                <a:latin typeface="Consolas"/>
              </a:rPr>
              <a:t>"features"</a:t>
            </a:r>
            <a:r>
              <a:rPr lang="en-US" sz="1400" dirty="0">
                <a:solidFill>
                  <a:srgbClr val="4A4A4A"/>
                </a:solidFill>
                <a:latin typeface="Consolas"/>
              </a:rPr>
              <a:t>:</a:t>
            </a:r>
            <a:r>
              <a:rPr lang="en-US" sz="1400" dirty="0">
                <a:solidFill>
                  <a:srgbClr val="383838"/>
                </a:solidFill>
                <a:latin typeface="Consolas"/>
              </a:rPr>
              <a:t> </a:t>
            </a:r>
            <a:r>
              <a:rPr lang="en-US" sz="1400" dirty="0">
                <a:solidFill>
                  <a:srgbClr val="4A4A4A"/>
                </a:solidFill>
                <a:latin typeface="Consolas"/>
              </a:rPr>
              <a:t>[</a:t>
            </a:r>
            <a:r>
              <a:rPr lang="en-US" sz="1400" dirty="0">
                <a:solidFill>
                  <a:srgbClr val="CE9178"/>
                </a:solidFill>
                <a:latin typeface="Consolas"/>
              </a:rPr>
              <a:t>"slides"</a:t>
            </a:r>
            <a:r>
              <a:rPr lang="en-US" sz="1400" dirty="0">
                <a:solidFill>
                  <a:srgbClr val="4A4A4A"/>
                </a:solidFill>
                <a:latin typeface="Consolas"/>
              </a:rPr>
              <a:t>,</a:t>
            </a:r>
            <a:r>
              <a:rPr lang="en-US" sz="1400" dirty="0">
                <a:solidFill>
                  <a:srgbClr val="383838"/>
                </a:solidFill>
                <a:latin typeface="Consolas"/>
              </a:rPr>
              <a:t> </a:t>
            </a:r>
            <a:r>
              <a:rPr lang="en-US" sz="1400" dirty="0">
                <a:solidFill>
                  <a:srgbClr val="CE9178"/>
                </a:solidFill>
                <a:latin typeface="Consolas"/>
              </a:rPr>
              <a:t>"code"</a:t>
            </a:r>
            <a:r>
              <a:rPr lang="en-US" sz="1400" dirty="0">
                <a:solidFill>
                  <a:srgbClr val="4A4A4A"/>
                </a:solidFill>
                <a:latin typeface="Consolas"/>
              </a:rPr>
              <a:t>,</a:t>
            </a:r>
            <a:r>
              <a:rPr lang="en-US" sz="1400" dirty="0">
                <a:solidFill>
                  <a:srgbClr val="383838"/>
                </a:solidFill>
                <a:latin typeface="Consolas"/>
              </a:rPr>
              <a:t> </a:t>
            </a:r>
            <a:r>
              <a:rPr lang="en-US" sz="1400" dirty="0">
                <a:solidFill>
                  <a:srgbClr val="CE9178"/>
                </a:solidFill>
                <a:latin typeface="Consolas"/>
              </a:rPr>
              <a:t>"tables"</a:t>
            </a:r>
            <a:r>
              <a:rPr lang="en-US" sz="1400" dirty="0">
                <a:solidFill>
                  <a:srgbClr val="4A4A4A"/>
                </a:solidFill>
                <a:latin typeface="Consolas"/>
              </a:rPr>
              <a:t>]</a:t>
            </a:r>
            <a:r>
              <a:rPr lang="en-US" sz="1400" dirty="0">
                <a:solidFill>
                  <a:srgbClr val="4A4A4A"/>
                </a:solidFill>
                <a:latin typeface="Consolas"/>
              </a:rPr>
              <a:t>,</a:t>
            </a:r>
          </a:p>
          <a:p xmlns:a="http://schemas.openxmlformats.org/drawingml/2006/main"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dirty="0">
                <a:solidFill>
                  <a:srgbClr val="383838"/>
                </a:solidFill>
                <a:latin typeface="Consolas"/>
              </a:rPr>
              <a:t>  </a:t>
            </a:r>
            <a:r>
              <a:rPr lang="en-US" sz="1400" dirty="0">
                <a:solidFill>
                  <a:srgbClr val="4FC1FF"/>
                </a:solidFill>
                <a:latin typeface="Consolas"/>
              </a:rPr>
              <a:t>"enabled"</a:t>
            </a:r>
            <a:r>
              <a:rPr lang="en-US" sz="1400" dirty="0">
                <a:solidFill>
                  <a:srgbClr val="4A4A4A"/>
                </a:solidFill>
                <a:latin typeface="Consolas"/>
              </a:rPr>
              <a:t>:</a:t>
            </a:r>
            <a:r>
              <a:rPr lang="en-US" sz="1400" dirty="0">
                <a:solidFill>
                  <a:srgbClr val="383838"/>
                </a:solidFill>
                <a:latin typeface="Consolas"/>
              </a:rPr>
              <a:t> </a:t>
            </a:r>
            <a:r>
              <a:rPr lang="en-US" sz="1400" dirty="0">
                <a:solidFill>
                  <a:srgbClr val="569CD6"/>
                </a:solidFill>
                <a:latin typeface="Consolas"/>
              </a:rPr>
              <a:t>true</a:t>
            </a:r>
          </a:p>
          <a:p xmlns:a="http://schemas.openxmlformats.org/drawingml/2006/main"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dirty="0">
                <a:solidFill>
                  <a:srgbClr val="4A4A4A"/>
                </a:solidFill>
                <a:latin typeface="Consolas"/>
              </a:rPr>
              <a:t>}</a:t>
            </a:r>
          </a:p>
        </p:txBody>
      </p:sp>
    </p:spTree>
  </p:cSld>
  <p:clrMapOvr>
    <a:masterClrMapping xmlns:a="http://schemas.openxmlformats.org/drawingml/2006/main"/>
  </p:clrMapOvr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74638"/>
            <a:ext cx="8229600" cy="990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rtlCol="0" anchor="b"/>
          <a:lstStyle xmlns:a="http://schemas.openxmlformats.org/drawingml/2006/main"/>
          <a:p xmlns:a="http://schemas.openxmlformats.org/drawingml/2006/main">
            <a:r>
              <a:rPr lang="en-US" sz="2800" b="1" dirty="0">
                <a:solidFill>
                  <a:srgbClr val="333333"/>
                </a:solidFill>
                <a:latin typeface="Calibri"/>
              </a:rPr>
              <a:t>Bash Example</a:t>
            </a:r>
          </a:p>
        </p:txBody>
      </p:sp>
      <p:sp>
        <p:nvSpPr>
          <p:cNvPr id="3" name="Code 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48118"/>
            <a:ext cx="8229600" cy="1427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5F5"/>
          </a:solidFill>
        </p:spPr>
        <p:txBody>
          <a:bodyPr xmlns:a="http://schemas.openxmlformats.org/drawingml/2006/main" wrap="square" lIns="91440" tIns="45720" rIns="91440" bIns="45720" rtlCol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dirty="0">
                <a:solidFill>
                  <a:srgbClr val="6A9955"/>
                </a:solidFill>
                <a:latin typeface="Consolas"/>
              </a:rPr>
              <a:t>#!/bin/bash</a:t>
            </a:r>
          </a:p>
          <a:p xmlns:a="http://schemas.openxmlformats.org/drawingml/2006/main"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dirty="0">
                <a:solidFill>
                  <a:srgbClr val="C4A000"/>
                </a:solidFill>
                <a:latin typeface="Consolas"/>
              </a:rPr>
              <a:t>echo</a:t>
            </a:r>
            <a:r>
              <a:rPr lang="en-US" sz="1400" dirty="0">
                <a:solidFill>
                  <a:srgbClr val="383838"/>
                </a:solidFill>
                <a:latin typeface="Consolas"/>
              </a:rPr>
              <a:t> </a:t>
            </a:r>
            <a:r>
              <a:rPr lang="en-US" sz="1400" dirty="0">
                <a:solidFill>
                  <a:srgbClr val="CE9178"/>
                </a:solidFill>
                <a:latin typeface="Consolas"/>
              </a:rPr>
              <a:t>"Converting markdown to slides..."</a:t>
            </a:r>
          </a:p>
          <a:p xmlns:a="http://schemas.openxmlformats.org/drawingml/2006/main"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dirty="0">
                <a:solidFill>
                  <a:srgbClr val="569CD6"/>
                </a:solidFill>
                <a:latin typeface="Consolas"/>
              </a:rPr>
              <a:t>for</a:t>
            </a:r>
            <a:r>
              <a:rPr lang="en-US" sz="1400" dirty="0">
                <a:solidFill>
                  <a:srgbClr val="383838"/>
                </a:solidFill>
                <a:latin typeface="Consolas"/>
              </a:rPr>
              <a:t> </a:t>
            </a:r>
            <a:r>
              <a:rPr lang="en-US" sz="1400" dirty="0">
                <a:solidFill>
                  <a:srgbClr val="383838"/>
                </a:solidFill>
                <a:latin typeface="Consolas"/>
              </a:rPr>
              <a:t>file</a:t>
            </a:r>
            <a:r>
              <a:rPr lang="en-US" sz="1400" dirty="0">
                <a:solidFill>
                  <a:srgbClr val="383838"/>
                </a:solidFill>
                <a:latin typeface="Consolas"/>
              </a:rPr>
              <a:t> </a:t>
            </a:r>
            <a:r>
              <a:rPr lang="en-US" sz="1400" dirty="0">
                <a:solidFill>
                  <a:srgbClr val="569CD6"/>
                </a:solidFill>
                <a:latin typeface="Consolas"/>
              </a:rPr>
              <a:t>in</a:t>
            </a:r>
            <a:r>
              <a:rPr lang="en-US" sz="1400" dirty="0">
                <a:solidFill>
                  <a:srgbClr val="383838"/>
                </a:solidFill>
                <a:latin typeface="Consolas"/>
              </a:rPr>
              <a:t> </a:t>
            </a:r>
            <a:r>
              <a:rPr lang="en-US" sz="1400" dirty="0">
                <a:solidFill>
                  <a:srgbClr val="383838"/>
                </a:solidFill>
                <a:latin typeface="Consolas"/>
              </a:rPr>
              <a:t>*</a:t>
            </a:r>
            <a:r>
              <a:rPr lang="en-US" sz="1400" dirty="0">
                <a:solidFill>
                  <a:srgbClr val="383838"/>
                </a:solidFill>
                <a:latin typeface="Consolas"/>
              </a:rPr>
              <a:t>.</a:t>
            </a:r>
            <a:r>
              <a:rPr lang="en-US" sz="1400" dirty="0">
                <a:solidFill>
                  <a:srgbClr val="383838"/>
                </a:solidFill>
                <a:latin typeface="Consolas"/>
              </a:rPr>
              <a:t>md</a:t>
            </a:r>
            <a:r>
              <a:rPr lang="en-US" sz="1400" dirty="0">
                <a:solidFill>
                  <a:srgbClr val="4A4A4A"/>
                </a:solidFill>
                <a:latin typeface="Consolas"/>
              </a:rPr>
              <a:t>;</a:t>
            </a:r>
            <a:r>
              <a:rPr lang="en-US" sz="1400" dirty="0">
                <a:solidFill>
                  <a:srgbClr val="383838"/>
                </a:solidFill>
                <a:latin typeface="Consolas"/>
              </a:rPr>
              <a:t> </a:t>
            </a:r>
            <a:r>
              <a:rPr lang="en-US" sz="1400" dirty="0">
                <a:solidFill>
                  <a:srgbClr val="569CD6"/>
                </a:solidFill>
                <a:latin typeface="Consolas"/>
              </a:rPr>
              <a:t>do</a:t>
            </a:r>
          </a:p>
          <a:p xmlns:a="http://schemas.openxmlformats.org/drawingml/2006/main"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dirty="0">
                <a:solidFill>
                  <a:srgbClr val="383838"/>
                </a:solidFill>
                <a:latin typeface="Consolas"/>
              </a:rPr>
              <a:t>    </a:t>
            </a:r>
            <a:r>
              <a:rPr lang="en-US" sz="1400" dirty="0">
                <a:solidFill>
                  <a:srgbClr val="383838"/>
                </a:solidFill>
                <a:latin typeface="Consolas"/>
              </a:rPr>
              <a:t>markmydeck</a:t>
            </a:r>
            <a:r>
              <a:rPr lang="en-US" sz="1400" dirty="0">
                <a:solidFill>
                  <a:srgbClr val="383838"/>
                </a:solidFill>
                <a:latin typeface="Consolas"/>
              </a:rPr>
              <a:t> </a:t>
            </a:r>
            <a:r>
              <a:rPr lang="en-US" sz="1400" dirty="0">
                <a:solidFill>
                  <a:srgbClr val="383838"/>
                </a:solidFill>
                <a:latin typeface="Consolas"/>
              </a:rPr>
              <a:t>convert</a:t>
            </a:r>
            <a:r>
              <a:rPr lang="en-US" sz="1400" dirty="0">
                <a:solidFill>
                  <a:srgbClr val="383838"/>
                </a:solidFill>
                <a:latin typeface="Consolas"/>
              </a:rPr>
              <a:t> </a:t>
            </a:r>
            <a:r>
              <a:rPr lang="en-US" sz="1400" dirty="0">
                <a:solidFill>
                  <a:srgbClr val="383838"/>
                </a:solidFill>
                <a:latin typeface="Consolas"/>
              </a:rPr>
              <a:t>-</a:t>
            </a:r>
            <a:r>
              <a:rPr lang="en-US" sz="1400" dirty="0">
                <a:solidFill>
                  <a:srgbClr val="383838"/>
                </a:solidFill>
                <a:latin typeface="Consolas"/>
              </a:rPr>
              <a:t>i</a:t>
            </a:r>
            <a:r>
              <a:rPr lang="en-US" sz="1400" dirty="0">
                <a:solidFill>
                  <a:srgbClr val="383838"/>
                </a:solidFill>
                <a:latin typeface="Consolas"/>
              </a:rPr>
              <a:t> </a:t>
            </a:r>
            <a:r>
              <a:rPr lang="en-US" sz="1400" dirty="0">
                <a:solidFill>
                  <a:srgbClr val="CE9178"/>
                </a:solidFill>
                <a:latin typeface="Consolas"/>
              </a:rPr>
              <a:t>"$file"</a:t>
            </a:r>
          </a:p>
          <a:p xmlns:a="http://schemas.openxmlformats.org/drawingml/2006/main"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dirty="0">
                <a:solidFill>
                  <a:srgbClr val="569CD6"/>
                </a:solidFill>
                <a:latin typeface="Consolas"/>
              </a:rPr>
              <a:t>done</a:t>
            </a:r>
          </a:p>
        </p:txBody>
      </p:sp>
    </p:spTree>
  </p:cSld>
  <p:clrMapOvr>
    <a:masterClrMapping xmlns:a="http://schemas.openxmlformats.org/drawingml/2006/main"/>
  </p:clrMapOvr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74638"/>
            <a:ext cx="8229600" cy="990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rtlCol="0" anchor="b"/>
          <a:lstStyle xmlns:a="http://schemas.openxmlformats.org/drawingml/2006/main"/>
          <a:p xmlns:a="http://schemas.openxmlformats.org/drawingml/2006/main">
            <a:r>
              <a:rPr lang="en-US" sz="2800" b="1" dirty="0">
                <a:solidFill>
                  <a:srgbClr val="333333"/>
                </a:solidFill>
                <a:latin typeface="Calibri"/>
              </a:rPr>
              <a:t>Tables</a:t>
            </a:r>
          </a:p>
        </p:txBody>
      </p:sp>
      <p:graphicFrame>
        <p:nvGraphicFramePr>
          <p:cNvPr id="3" name="Table 4"/>
          <p:cNvGraphicFramePr/>
          <p:nvPr/>
        </p:nvGraphicFramePr>
        <p:xfrm>
          <a:off xmlns:a="http://schemas.openxmlformats.org/drawingml/2006/main" x="457200" y="1448118"/>
          <a:ext xmlns:a="http://schemas.openxmlformats.org/drawingml/2006/main" cx="8229600" cy="256032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4114800"/>
                <a:gridCol w="4114800"/>
              </a:tblGrid>
              <a:tr h="365760">
                <a:tc>
                  <a:txBody>
                    <a:bodyPr/>
                    <a:lstStyle/>
                    <a:p>
                      <a:r>
                        <a:rPr lang="en-US" sz="1800" b="1" dirty="0">
                          <a:solidFill>
                            <a:srgbClr val="333333"/>
                          </a:solidFill>
                          <a:latin typeface="Calibri"/>
                        </a:rPr>
                        <a:t>Feature</a:t>
                      </a:r>
                    </a:p>
                  </a:txBody>
                  <a:tcPr>
                    <a:lnL w="12700">
                      <a:solidFill>
                        <a:srgbClr val="CCCCCC"/>
                      </a:solidFill>
                    </a:lnL>
                    <a:lnR w="12700">
                      <a:solidFill>
                        <a:srgbClr val="CCCCCC"/>
                      </a:solidFill>
                    </a:lnR>
                    <a:lnT w="12700">
                      <a:solidFill>
                        <a:srgbClr val="CCCCCC"/>
                      </a:solidFill>
                    </a:lnT>
                    <a:lnB w="12700">
                      <a:solidFill>
                        <a:srgbClr val="CCCCCC"/>
                      </a:solidFill>
                    </a:lnB>
                    <a:solidFill>
                      <a:srgbClr val="D3D3D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1" dirty="0">
                          <a:solidFill>
                            <a:srgbClr val="333333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lnL w="12700">
                      <a:solidFill>
                        <a:srgbClr val="CCCCCC"/>
                      </a:solidFill>
                    </a:lnL>
                    <a:lnR w="12700">
                      <a:solidFill>
                        <a:srgbClr val="CCCCCC"/>
                      </a:solidFill>
                    </a:lnR>
                    <a:lnT w="12700">
                      <a:solidFill>
                        <a:srgbClr val="CCCCCC"/>
                      </a:solidFill>
                    </a:lnT>
                    <a:lnB w="12700">
                      <a:solidFill>
                        <a:srgbClr val="CCCCCC"/>
                      </a:solidFill>
                    </a:lnB>
                    <a:solidFill>
                      <a:srgbClr val="D3D3D3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rgbClr val="333333"/>
                          </a:solidFill>
                          <a:latin typeface="Calibri"/>
                        </a:rPr>
                        <a:t>Headings</a:t>
                      </a:r>
                    </a:p>
                  </a:txBody>
                  <a:tcPr>
                    <a:lnL w="12700">
                      <a:solidFill>
                        <a:srgbClr val="CCCCCC"/>
                      </a:solidFill>
                    </a:lnL>
                    <a:lnR w="12700">
                      <a:solidFill>
                        <a:srgbClr val="CCCCCC"/>
                      </a:solidFill>
                    </a:lnR>
                    <a:lnT w="12700">
                      <a:solidFill>
                        <a:srgbClr val="CCCCCC"/>
                      </a:solidFill>
                    </a:lnT>
                    <a:lnB w="12700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rgbClr val="333333"/>
                          </a:solidFill>
                          <a:latin typeface="Calibri"/>
                        </a:rPr>
                        <a:t>✅ Supported</a:t>
                      </a:r>
                    </a:p>
                  </a:txBody>
                  <a:tcPr>
                    <a:lnL w="12700">
                      <a:solidFill>
                        <a:srgbClr val="CCCCCC"/>
                      </a:solidFill>
                    </a:lnL>
                    <a:lnR w="12700">
                      <a:solidFill>
                        <a:srgbClr val="CCCCCC"/>
                      </a:solidFill>
                    </a:lnR>
                    <a:lnT w="12700">
                      <a:solidFill>
                        <a:srgbClr val="CCCCCC"/>
                      </a:solidFill>
                    </a:lnT>
                    <a:lnB w="12700">
                      <a:solidFill>
                        <a:srgbClr val="CCCCCC"/>
                      </a:solidFill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rgbClr val="333333"/>
                          </a:solidFill>
                          <a:latin typeface="Calibri"/>
                        </a:rPr>
                        <a:t>Bold/Italic</a:t>
                      </a:r>
                    </a:p>
                  </a:txBody>
                  <a:tcPr>
                    <a:lnL w="12700">
                      <a:solidFill>
                        <a:srgbClr val="CCCCCC"/>
                      </a:solidFill>
                    </a:lnL>
                    <a:lnR w="12700">
                      <a:solidFill>
                        <a:srgbClr val="CCCCCC"/>
                      </a:solidFill>
                    </a:lnR>
                    <a:lnT w="12700">
                      <a:solidFill>
                        <a:srgbClr val="CCCCCC"/>
                      </a:solidFill>
                    </a:lnT>
                    <a:lnB w="12700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rgbClr val="333333"/>
                          </a:solidFill>
                          <a:latin typeface="Calibri"/>
                        </a:rPr>
                        <a:t>✅ Supported</a:t>
                      </a:r>
                    </a:p>
                  </a:txBody>
                  <a:tcPr>
                    <a:lnL w="12700">
                      <a:solidFill>
                        <a:srgbClr val="CCCCCC"/>
                      </a:solidFill>
                    </a:lnL>
                    <a:lnR w="12700">
                      <a:solidFill>
                        <a:srgbClr val="CCCCCC"/>
                      </a:solidFill>
                    </a:lnR>
                    <a:lnT w="12700">
                      <a:solidFill>
                        <a:srgbClr val="CCCCCC"/>
                      </a:solidFill>
                    </a:lnT>
                    <a:lnB w="12700">
                      <a:solidFill>
                        <a:srgbClr val="CCCCCC"/>
                      </a:solidFill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rgbClr val="333333"/>
                          </a:solidFill>
                          <a:latin typeface="Calibri"/>
                        </a:rPr>
                        <a:t>Code Blocks</a:t>
                      </a:r>
                    </a:p>
                  </a:txBody>
                  <a:tcPr>
                    <a:lnL w="12700">
                      <a:solidFill>
                        <a:srgbClr val="CCCCCC"/>
                      </a:solidFill>
                    </a:lnL>
                    <a:lnR w="12700">
                      <a:solidFill>
                        <a:srgbClr val="CCCCCC"/>
                      </a:solidFill>
                    </a:lnR>
                    <a:lnT w="12700">
                      <a:solidFill>
                        <a:srgbClr val="CCCCCC"/>
                      </a:solidFill>
                    </a:lnT>
                    <a:lnB w="12700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rgbClr val="333333"/>
                          </a:solidFill>
                          <a:latin typeface="Calibri"/>
                        </a:rPr>
                        <a:t>✅ Supported</a:t>
                      </a:r>
                    </a:p>
                  </a:txBody>
                  <a:tcPr>
                    <a:lnL w="12700">
                      <a:solidFill>
                        <a:srgbClr val="CCCCCC"/>
                      </a:solidFill>
                    </a:lnL>
                    <a:lnR w="12700">
                      <a:solidFill>
                        <a:srgbClr val="CCCCCC"/>
                      </a:solidFill>
                    </a:lnR>
                    <a:lnT w="12700">
                      <a:solidFill>
                        <a:srgbClr val="CCCCCC"/>
                      </a:solidFill>
                    </a:lnT>
                    <a:lnB w="12700">
                      <a:solidFill>
                        <a:srgbClr val="CCCCCC"/>
                      </a:solidFill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rgbClr val="333333"/>
                          </a:solidFill>
                          <a:latin typeface="Calibri"/>
                        </a:rPr>
                        <a:t>Tables</a:t>
                      </a:r>
                    </a:p>
                  </a:txBody>
                  <a:tcPr>
                    <a:lnL w="12700">
                      <a:solidFill>
                        <a:srgbClr val="CCCCCC"/>
                      </a:solidFill>
                    </a:lnL>
                    <a:lnR w="12700">
                      <a:solidFill>
                        <a:srgbClr val="CCCCCC"/>
                      </a:solidFill>
                    </a:lnR>
                    <a:lnT w="12700">
                      <a:solidFill>
                        <a:srgbClr val="CCCCCC"/>
                      </a:solidFill>
                    </a:lnT>
                    <a:lnB w="12700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rgbClr val="333333"/>
                          </a:solidFill>
                          <a:latin typeface="Calibri"/>
                        </a:rPr>
                        <a:t>✅ Supported</a:t>
                      </a:r>
                    </a:p>
                  </a:txBody>
                  <a:tcPr>
                    <a:lnL w="12700">
                      <a:solidFill>
                        <a:srgbClr val="CCCCCC"/>
                      </a:solidFill>
                    </a:lnL>
                    <a:lnR w="12700">
                      <a:solidFill>
                        <a:srgbClr val="CCCCCC"/>
                      </a:solidFill>
                    </a:lnR>
                    <a:lnT w="12700">
                      <a:solidFill>
                        <a:srgbClr val="CCCCCC"/>
                      </a:solidFill>
                    </a:lnT>
                    <a:lnB w="12700">
                      <a:solidFill>
                        <a:srgbClr val="CCCCCC"/>
                      </a:solidFill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rgbClr val="333333"/>
                          </a:solidFill>
                          <a:latin typeface="Calibri"/>
                        </a:rPr>
                        <a:t>Lists</a:t>
                      </a:r>
                    </a:p>
                  </a:txBody>
                  <a:tcPr>
                    <a:lnL w="12700">
                      <a:solidFill>
                        <a:srgbClr val="CCCCCC"/>
                      </a:solidFill>
                    </a:lnL>
                    <a:lnR w="12700">
                      <a:solidFill>
                        <a:srgbClr val="CCCCCC"/>
                      </a:solidFill>
                    </a:lnR>
                    <a:lnT w="12700">
                      <a:solidFill>
                        <a:srgbClr val="CCCCCC"/>
                      </a:solidFill>
                    </a:lnT>
                    <a:lnB w="12700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rgbClr val="333333"/>
                          </a:solidFill>
                          <a:latin typeface="Calibri"/>
                        </a:rPr>
                        <a:t>✅ Supported</a:t>
                      </a:r>
                    </a:p>
                  </a:txBody>
                  <a:tcPr>
                    <a:lnL w="12700">
                      <a:solidFill>
                        <a:srgbClr val="CCCCCC"/>
                      </a:solidFill>
                    </a:lnL>
                    <a:lnR w="12700">
                      <a:solidFill>
                        <a:srgbClr val="CCCCCC"/>
                      </a:solidFill>
                    </a:lnR>
                    <a:lnT w="12700">
                      <a:solidFill>
                        <a:srgbClr val="CCCCCC"/>
                      </a:solidFill>
                    </a:lnT>
                    <a:lnB w="12700">
                      <a:solidFill>
                        <a:srgbClr val="CCCCCC"/>
                      </a:solidFill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rgbClr val="333333"/>
                          </a:solidFill>
                          <a:latin typeface="Calibri"/>
                        </a:rPr>
                        <a:t>Links</a:t>
                      </a:r>
                    </a:p>
                  </a:txBody>
                  <a:tcPr>
                    <a:lnL w="12700">
                      <a:solidFill>
                        <a:srgbClr val="CCCCCC"/>
                      </a:solidFill>
                    </a:lnL>
                    <a:lnR w="12700">
                      <a:solidFill>
                        <a:srgbClr val="CCCCCC"/>
                      </a:solidFill>
                    </a:lnR>
                    <a:lnT w="12700">
                      <a:solidFill>
                        <a:srgbClr val="CCCCCC"/>
                      </a:solidFill>
                    </a:lnT>
                    <a:lnB w="12700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rgbClr val="333333"/>
                          </a:solidFill>
                          <a:latin typeface="Calibri"/>
                        </a:rPr>
                        <a:t>✅ Supported</a:t>
                      </a:r>
                    </a:p>
                  </a:txBody>
                  <a:tcPr>
                    <a:lnL w="12700">
                      <a:solidFill>
                        <a:srgbClr val="CCCCCC"/>
                      </a:solidFill>
                    </a:lnL>
                    <a:lnR w="12700">
                      <a:solidFill>
                        <a:srgbClr val="CCCCCC"/>
                      </a:solidFill>
                    </a:lnR>
                    <a:lnT w="12700">
                      <a:solidFill>
                        <a:srgbClr val="CCCCCC"/>
                      </a:solidFill>
                    </a:lnT>
                    <a:lnB w="12700">
                      <a:solidFill>
                        <a:srgbClr val="CCCCCC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 xmlns:a="http://schemas.openxmlformats.org/drawingml/2006/main"/>
  </p:clrMapOvr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74638"/>
            <a:ext cx="8229600" cy="990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rtlCol="0" anchor="b"/>
          <a:lstStyle xmlns:a="http://schemas.openxmlformats.org/drawingml/2006/main"/>
          <a:p xmlns:a="http://schemas.openxmlformats.org/drawingml/2006/main">
            <a:r>
              <a:rPr lang="en-US" sz="2800" b="1" dirty="0">
                <a:solidFill>
                  <a:srgbClr val="333333"/>
                </a:solidFill>
                <a:latin typeface="Calibri"/>
              </a:rPr>
              <a:t>Lists</a:t>
            </a:r>
          </a:p>
        </p:txBody>
      </p:sp>
      <p:sp>
        <p:nvSpPr>
          <p:cNvPr id="3" name="Conten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48118"/>
            <a:ext cx="8229600" cy="513524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rtlCol="0" anchor="t"/>
          <a:lstStyle xmlns:a="http://schemas.openxmlformats.org/drawingml/2006/main"/>
          <a:p xmlns:a="http://schemas.openxmlformats.org/drawingml/2006/main">
            <a:pPr>
              <a:spcBef>
                <a:spcPts val="600"/>
              </a:spcBef>
            </a:pPr>
            <a:r>
              <a:rPr lang="en-US" sz="2400" b="1" dirty="0">
                <a:solidFill>
                  <a:srgbClr val="333333"/>
                </a:solidFill>
                <a:latin typeface="Calibri"/>
              </a:rPr>
              <a:t>Unordered</a:t>
            </a:r>
          </a:p>
          <a:p xmlns:a="http://schemas.openxmlformats.org/drawingml/2006/main">
            <a:pPr marL="457200" indent="-228600">
              <a:spcBef>
                <a:spcPts val="100"/>
              </a:spcBef>
            </a:pPr>
            <a:r>
              <a:rPr lang="en-US" sz="1800" dirty="0">
                <a:solidFill>
                  <a:srgbClr val="333333"/>
                </a:solidFill>
                <a:latin typeface="Calibri"/>
              </a:rPr>
              <a:t>• </a:t>
            </a:r>
            <a:r>
              <a:rPr lang="en-US" sz="1800" dirty="0">
                <a:solidFill>
                  <a:srgbClr val="333333"/>
                </a:solidFill>
                <a:latin typeface="Calibri"/>
              </a:rPr>
              <a:t>First item</a:t>
            </a:r>
          </a:p>
          <a:p xmlns:a="http://schemas.openxmlformats.org/drawingml/2006/main">
            <a:pPr marL="457200" indent="-228600">
              <a:spcBef>
                <a:spcPts val="100"/>
              </a:spcBef>
            </a:pPr>
            <a:r>
              <a:rPr lang="en-US" sz="1800" dirty="0">
                <a:solidFill>
                  <a:srgbClr val="333333"/>
                </a:solidFill>
                <a:latin typeface="Calibri"/>
              </a:rPr>
              <a:t>• </a:t>
            </a:r>
            <a:r>
              <a:rPr lang="en-US" sz="1800" dirty="0">
                <a:solidFill>
                  <a:srgbClr val="333333"/>
                </a:solidFill>
                <a:latin typeface="Calibri"/>
              </a:rPr>
              <a:t>Second item</a:t>
            </a:r>
          </a:p>
          <a:p xmlns:a="http://schemas.openxmlformats.org/drawingml/2006/main">
            <a:pPr marL="457200" indent="-228600">
              <a:spcBef>
                <a:spcPts val="100"/>
              </a:spcBef>
            </a:pPr>
            <a:r>
              <a:rPr lang="en-US" sz="1800" dirty="0">
                <a:solidFill>
                  <a:srgbClr val="333333"/>
                </a:solidFill>
                <a:latin typeface="Calibri"/>
              </a:rPr>
              <a:t>• </a:t>
            </a:r>
            <a:r>
              <a:rPr lang="en-US" sz="1800" dirty="0">
                <a:solidFill>
                  <a:srgbClr val="333333"/>
                </a:solidFill>
                <a:latin typeface="Calibri"/>
              </a:rPr>
              <a:t>Third item with </a:t>
            </a:r>
            <a:r>
              <a:rPr lang="en-US" sz="1800" b="1" dirty="0">
                <a:solidFill>
                  <a:srgbClr val="333333"/>
                </a:solidFill>
                <a:latin typeface="Calibri"/>
              </a:rPr>
              <a:t>bold</a:t>
            </a:r>
            <a:r>
              <a:rPr lang="en-US" sz="1800" dirty="0">
                <a:solidFill>
                  <a:srgbClr val="333333"/>
                </a:solidFill>
                <a:latin typeface="Calibri"/>
              </a:rPr>
              <a:t> text</a:t>
            </a:r>
          </a:p>
          <a:p xmlns:a="http://schemas.openxmlformats.org/drawingml/2006/main">
            <a:pPr>
              <a:spcBef>
                <a:spcPts val="600"/>
              </a:spcBef>
            </a:pPr>
            <a:r>
              <a:rPr lang="en-US" sz="2400" b="1" dirty="0">
                <a:solidFill>
                  <a:srgbClr val="333333"/>
                </a:solidFill>
                <a:latin typeface="Calibri"/>
              </a:rPr>
              <a:t>Ordered</a:t>
            </a:r>
          </a:p>
          <a:p xmlns:a="http://schemas.openxmlformats.org/drawingml/2006/main">
            <a:pPr marL="457200" indent="-228600">
              <a:spcBef>
                <a:spcPts val="100"/>
              </a:spcBef>
            </a:pPr>
            <a:r>
              <a:rPr lang="en-US" sz="1800" dirty="0">
                <a:solidFill>
                  <a:srgbClr val="333333"/>
                </a:solidFill>
                <a:latin typeface="Calibri"/>
              </a:rPr>
              <a:t>1. </a:t>
            </a:r>
            <a:r>
              <a:rPr lang="en-US" sz="1800" dirty="0">
                <a:solidFill>
                  <a:srgbClr val="333333"/>
                </a:solidFill>
                <a:latin typeface="Calibri"/>
              </a:rPr>
              <a:t>Step one</a:t>
            </a:r>
          </a:p>
          <a:p xmlns:a="http://schemas.openxmlformats.org/drawingml/2006/main">
            <a:pPr marL="457200" indent="-228600">
              <a:spcBef>
                <a:spcPts val="100"/>
              </a:spcBef>
            </a:pPr>
            <a:r>
              <a:rPr lang="en-US" sz="1800" dirty="0">
                <a:solidFill>
                  <a:srgbClr val="333333"/>
                </a:solidFill>
                <a:latin typeface="Calibri"/>
              </a:rPr>
              <a:t>2. </a:t>
            </a:r>
            <a:r>
              <a:rPr lang="en-US" sz="1800" dirty="0">
                <a:solidFill>
                  <a:srgbClr val="333333"/>
                </a:solidFill>
                <a:latin typeface="Calibri"/>
              </a:rPr>
              <a:t>Step two</a:t>
            </a:r>
          </a:p>
          <a:p xmlns:a="http://schemas.openxmlformats.org/drawingml/2006/main">
            <a:pPr marL="457200" indent="-228600">
              <a:spcBef>
                <a:spcPts val="100"/>
              </a:spcBef>
            </a:pPr>
            <a:r>
              <a:rPr lang="en-US" sz="1800" dirty="0">
                <a:solidFill>
                  <a:srgbClr val="333333"/>
                </a:solidFill>
                <a:latin typeface="Calibri"/>
              </a:rPr>
              <a:t>3. </a:t>
            </a:r>
            <a:r>
              <a:rPr lang="en-US" sz="1800" dirty="0">
                <a:solidFill>
                  <a:srgbClr val="333333"/>
                </a:solidFill>
                <a:latin typeface="Calibri"/>
              </a:rPr>
              <a:t>Step three</a:t>
            </a:r>
          </a:p>
        </p:txBody>
      </p:sp>
    </p:spTree>
  </p:cSld>
  <p:clrMapOvr>
    <a:masterClrMapping xmlns:a="http://schemas.openxmlformats.org/drawingml/2006/main"/>
  </p:clrMapOvr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74638"/>
            <a:ext cx="8229600" cy="990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rtlCol="0" anchor="b"/>
          <a:lstStyle xmlns:a="http://schemas.openxmlformats.org/drawingml/2006/main"/>
          <a:p xmlns:a="http://schemas.openxmlformats.org/drawingml/2006/main">
            <a:r>
              <a:rPr lang="en-US" sz="2800" b="1" dirty="0">
                <a:solidFill>
                  <a:srgbClr val="333333"/>
                </a:solidFill>
                <a:latin typeface="Calibri"/>
              </a:rPr>
              <a:t>Links and Formatting</a:t>
            </a:r>
          </a:p>
        </p:txBody>
      </p:sp>
      <p:sp>
        <p:nvSpPr>
          <p:cNvPr id="3" name="Conten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48118"/>
            <a:ext cx="8229600" cy="513524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rtlCol="0" anchor="t"/>
          <a:lstStyle xmlns:a="http://schemas.openxmlformats.org/drawingml/2006/main"/>
          <a:p xmlns:a="http://schemas.openxmlformats.org/drawingml/2006/main">
            <a:r>
              <a:rPr lang="en-US" sz="1800" dirty="0">
                <a:solidFill>
                  <a:srgbClr val="333333"/>
                </a:solidFill>
                <a:latin typeface="Calibri"/>
              </a:rPr>
              <a:t>Visit </a:t>
            </a:r>
            <a:r>
              <a:rPr lang="en-US" sz="1800" u="sng" dirty="0">
                <a:solidFill>
                  <a:srgbClr val="0563C1"/>
                </a:solidFill>
                <a:latin typeface="Calibri"/>
                <a:hlinkClick xmlns:r="http://schemas.openxmlformats.org/officeDocument/2006/relationships" r:id="R69f08ad215fe41ea"/>
              </a:rPr>
              <a:t>MarkMyDeck on GitHub</a:t>
            </a:r>
            <a:r>
              <a:rPr lang="en-US" sz="1800" dirty="0">
                <a:solidFill>
                  <a:srgbClr val="333333"/>
                </a:solidFill>
                <a:latin typeface="Calibri"/>
              </a:rPr>
              <a:t> for more info.</a:t>
            </a:r>
          </a:p>
          <a:p xmlns:a="http://schemas.openxmlformats.org/drawingml/2006/main">
            <a:r>
              <a:rPr lang="en-US" sz="1800" dirty="0">
                <a:solidFill>
                  <a:srgbClr val="333333"/>
                </a:solidFill>
                <a:latin typeface="Calibri"/>
              </a:rPr>
              <a:t>This text has </a:t>
            </a:r>
            <a:r>
              <a:rPr lang="en-US" sz="1800" b="1" dirty="0">
                <a:solidFill>
                  <a:srgbClr val="333333"/>
                </a:solidFill>
                <a:latin typeface="Calibri"/>
              </a:rPr>
              <a:t>bold</a:t>
            </a:r>
            <a:r>
              <a:rPr lang="en-US" sz="1800" dirty="0">
                <a:solidFill>
                  <a:srgbClr val="333333"/>
                </a:solidFill>
                <a:latin typeface="Calibri"/>
              </a:rPr>
              <a:t>, </a:t>
            </a:r>
            <a:r>
              <a:rPr lang="en-US" sz="1800" i="1" dirty="0">
                <a:solidFill>
                  <a:srgbClr val="333333"/>
                </a:solidFill>
                <a:latin typeface="Calibri"/>
              </a:rPr>
              <a:t>italic</a:t>
            </a:r>
            <a:r>
              <a:rPr lang="en-US" sz="1800" dirty="0">
                <a:solidFill>
                  <a:srgbClr val="333333"/>
                </a:solidFill>
                <a:latin typeface="Calibri"/>
              </a:rPr>
              <a:t>, and </a:t>
            </a:r>
            <a:r>
              <a:rPr lang="en-US" sz="1400" dirty="0">
                <a:solidFill>
                  <a:srgbClr val="333333"/>
                </a:solidFill>
                <a:latin typeface="Consolas"/>
              </a:rPr>
              <a:t>inline code</a:t>
            </a:r>
            <a:r>
              <a:rPr lang="en-US" sz="1800" dirty="0">
                <a:solidFill>
                  <a:srgbClr val="333333"/>
                </a:solidFill>
                <a:latin typeface="Calibri"/>
              </a:rPr>
              <a:t> formatting.</a:t>
            </a:r>
          </a:p>
          <a:p xmlns:a="http://schemas.openxmlformats.org/drawingml/2006/main">
            <a:pPr>
              <a:spcBef>
                <a:spcPts val="200"/>
              </a:spcBef>
            </a:pPr>
            <a:r>
              <a:rPr lang="en-US" sz="1800" i="1" dirty="0">
                <a:latin typeface="Calibri"/>
              </a:rPr>
              <a:t>    </a:t>
            </a:r>
            <a:r>
              <a:rPr lang="en-US" sz="1800" i="1" dirty="0">
                <a:solidFill>
                  <a:srgbClr val="333333"/>
                </a:solidFill>
                <a:latin typeface="Calibri"/>
              </a:rPr>
              <a:t>This is a block quote — great for callouts and notes.</a:t>
            </a:r>
          </a:p>
        </p:txBody>
      </p:sp>
    </p:spTree>
  </p:cSld>
  <p:clrMapOvr>
    <a:masterClrMapping xmlns:a="http://schemas.openxmlformats.org/drawingml/2006/main"/>
  </p:clrMapOvr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74638"/>
            <a:ext cx="8229600" cy="990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rtlCol="0" anchor="b"/>
          <a:lstStyle xmlns:a="http://schemas.openxmlformats.org/drawingml/2006/main"/>
          <a:p xmlns:a="http://schemas.openxmlformats.org/drawingml/2006/main">
            <a:r>
              <a:rPr lang="en-US" sz="3600" b="1" dirty="0">
                <a:solidFill>
                  <a:srgbClr val="333333"/>
                </a:solidFill>
                <a:latin typeface="Calibri"/>
              </a:rPr>
              <a:t>Thank You!</a:t>
            </a:r>
          </a:p>
        </p:txBody>
      </p:sp>
      <p:sp>
        <p:nvSpPr>
          <p:cNvPr id="3" name="Conten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48118"/>
            <a:ext cx="8229600" cy="513524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rtlCol="0" anchor="t"/>
          <a:lstStyle xmlns:a="http://schemas.openxmlformats.org/drawingml/2006/main"/>
          <a:p xmlns:a="http://schemas.openxmlformats.org/drawingml/2006/main">
            <a:r>
              <a:rPr lang="en-US" sz="1800" dirty="0">
                <a:solidFill>
                  <a:srgbClr val="333333"/>
                </a:solidFill>
                <a:latin typeface="Calibri"/>
              </a:rPr>
              <a:t>Built with Markdig, DocumentFormat.OpenXml, and ColorCode.Core.</a:t>
            </a:r>
          </a:p>
        </p:txBody>
      </p:sp>
    </p:spTree>
  </p:cSld>
  <p:clrMapOvr>
    <a:masterClrMapping xmlns:a="http://schemas.openxmlformats.org/drawingml/2006/main"/>
  </p:clrMapOvr>
</p:sld>
</file>