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6b2e997f62042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4472C4"/>
      </a:dk1>
      <a:lt1>
        <a:srgbClr val="FFFFFF"/>
      </a:lt1>
      <a:dk2>
        <a:srgbClr val="333333"/>
      </a:dk2>
      <a:lt2>
        <a:srgbClr val="FAFAFA"/>
      </a:lt2>
      <a:accent1>
        <a:srgbClr val="4472C4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4472C4"/>
      </a:hlink>
      <a:folHlink>
        <a:srgbClr val="6C5CE7"/>
      </a:folHlink>
    </a:clrScheme>
    <a:fontScheme name="MarkMyDe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spec-works/MarkMyDeck" TargetMode="External" Id="Rd3597e899a5140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333333"/>
                </a:solidFill>
                <a:latin typeface="Calibri"/>
              </a:rPr>
              <a:t>MarkMyDeck Demo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333333"/>
                </a:solidFill>
                <a:latin typeface="Calibri"/>
              </a:rPr>
              <a:t>Welcome to MarkMyDeck — a Markdown to PowerPoint converter.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333333"/>
                </a:solidFill>
                <a:latin typeface="Calibr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Convert Markdown to </a:t>
            </a:r>
            <a:r>
              <a:rPr lang="en-US" sz="1300" dirty="0">
                <a:solidFill>
                  <a:srgbClr val="333333"/>
                </a:solidFill>
                <a:latin typeface="Consolas"/>
              </a:rPr>
              <a:t>.pptx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 presentations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Syntax highlighting for code blocks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Tables, lists, links, and more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Built with the same libraries as </a:t>
            </a:r>
            <a:r>
              <a:rPr lang="en-US" sz="1800" b="1" dirty="0">
                <a:solidFill>
                  <a:srgbClr val="333333"/>
                </a:solidFill>
                <a:latin typeface="Calibri"/>
              </a:rPr>
              <a:t>MarkMyWord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333333"/>
                </a:solidFill>
                <a:latin typeface="Calibri"/>
              </a:rPr>
              <a:t>Code Example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333333"/>
                </a:solidFill>
                <a:latin typeface="Calibri"/>
              </a:rPr>
              <a:t>Here's a JSON snippet with syntax highlighting: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56971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383838"/>
                </a:solidFill>
                <a:latin typeface="Consolas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1A1A1A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001080"/>
                </a:solidFill>
                <a:latin typeface="Consolas"/>
              </a:rPr>
              <a:t>"name"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: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</a:rPr>
              <a:t>"MarkMyDeck"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1A1A1A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001080"/>
                </a:solidFill>
                <a:latin typeface="Consolas"/>
              </a:rPr>
              <a:t>"version"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: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</a:rPr>
              <a:t>"0.1.0"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1A1A1A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001080"/>
                </a:solidFill>
                <a:latin typeface="Consolas"/>
              </a:rPr>
              <a:t>"features"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: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[</a:t>
            </a:r>
            <a:r>
              <a:rPr lang="en-US" sz="1300" dirty="0">
                <a:solidFill>
                  <a:srgbClr val="A31515"/>
                </a:solidFill>
                <a:latin typeface="Consolas"/>
              </a:rPr>
              <a:t>"slides"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,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</a:rPr>
              <a:t>"code"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,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</a:rPr>
              <a:t>"tables"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]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1A1A1A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001080"/>
                </a:solidFill>
                <a:latin typeface="Consolas"/>
              </a:rPr>
              <a:t>"enabled"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: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/>
              </a:rPr>
              <a:t>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383838"/>
                </a:solidFill>
                <a:latin typeface="Consolas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333333"/>
                </a:solidFill>
                <a:latin typeface="Calibri"/>
              </a:rPr>
              <a:t>Bash Example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008000"/>
                </a:solidFill>
                <a:latin typeface="Consolas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795E26"/>
                </a:solidFill>
                <a:latin typeface="Consolas"/>
              </a:rPr>
              <a:t>echo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</a:rPr>
              <a:t>"Converting markdown to slides..."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file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*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.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md</a:t>
            </a:r>
            <a:r>
              <a:rPr lang="en-US" sz="1300" dirty="0">
                <a:solidFill>
                  <a:srgbClr val="383838"/>
                </a:solidFill>
                <a:latin typeface="Consolas"/>
              </a:rPr>
              <a:t>;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1A1A1A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markmydeck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convert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-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i</a:t>
            </a:r>
            <a:r>
              <a:rPr lang="en-US" sz="1300" dirty="0">
                <a:solidFill>
                  <a:srgbClr val="1A1A1A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</a:rPr>
              <a:t>"$file"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FF"/>
                </a:solidFill>
                <a:latin typeface="Consolas"/>
              </a:rPr>
              <a:t>done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333333"/>
                </a:solidFill>
                <a:latin typeface="Calibri"/>
              </a:rPr>
              <a:t>Tables</a:t>
            </a:r>
          </a:p>
        </p:txBody>
      </p:sp>
      <p:graphicFrame>
        <p:nvGraphicFramePr>
          <p:cNvPr id="5" name="Table 6"/>
          <p:cNvGraphicFramePr/>
          <p:nvPr/>
        </p:nvGraphicFramePr>
        <p:xfrm>
          <a:off xmlns:a="http://schemas.openxmlformats.org/drawingml/2006/main" x="640080" y="1646238"/>
          <a:ext xmlns:a="http://schemas.openxmlformats.org/drawingml/2006/main" cx="7863840" cy="256032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Headings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Bold/Italic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Code Blocks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Tables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Lists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Links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Calibr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333333"/>
                </a:solidFill>
                <a:latin typeface="Calibri"/>
              </a:rPr>
              <a:t>Lists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333333"/>
                </a:solidFill>
                <a:latin typeface="Calibri"/>
              </a:rPr>
              <a:t>Unordered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First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Second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Third item with </a:t>
            </a:r>
            <a:r>
              <a:rPr lang="en-US" sz="1800" b="1" dirty="0">
                <a:solidFill>
                  <a:srgbClr val="333333"/>
                </a:solidFill>
                <a:latin typeface="Calibri"/>
              </a:rPr>
              <a:t>bold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 text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333333"/>
                </a:solidFill>
                <a:latin typeface="Calibri"/>
              </a:rPr>
              <a:t>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1.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Step one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2.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Step two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333333"/>
                </a:solidFill>
                <a:latin typeface="Calibri"/>
              </a:rPr>
              <a:t>3. 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Step three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333333"/>
                </a:solidFill>
                <a:latin typeface="Calibri"/>
              </a:rPr>
              <a:t>Links and Formatting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333333"/>
                </a:solidFill>
                <a:latin typeface="Calibri"/>
              </a:rPr>
              <a:t>Visit </a:t>
            </a:r>
            <a:r>
              <a:rPr lang="en-US" sz="1800" u="sng" dirty="0">
                <a:solidFill>
                  <a:srgbClr val="4472C4"/>
                </a:solidFill>
                <a:latin typeface="Calibri"/>
                <a:hlinkClick xmlns:r="http://schemas.openxmlformats.org/officeDocument/2006/relationships" r:id="Rd3597e899a514076"/>
              </a:rPr>
              <a:t>MarkMyDeck on GitHub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 for more info.</a:t>
            </a:r>
          </a:p>
          <a:p xmlns:a="http://schemas.openxmlformats.org/drawingml/2006/main">
            <a:r>
              <a:rPr lang="en-US" sz="1800" dirty="0">
                <a:solidFill>
                  <a:srgbClr val="333333"/>
                </a:solidFill>
                <a:latin typeface="Calibri"/>
              </a:rPr>
              <a:t>This text has </a:t>
            </a:r>
            <a:r>
              <a:rPr lang="en-US" sz="1800" b="1" dirty="0">
                <a:solidFill>
                  <a:srgbClr val="333333"/>
                </a:solidFill>
                <a:latin typeface="Calibri"/>
              </a:rPr>
              <a:t>bold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, </a:t>
            </a:r>
            <a:r>
              <a:rPr lang="en-US" sz="1800" i="1" dirty="0">
                <a:solidFill>
                  <a:srgbClr val="333333"/>
                </a:solidFill>
                <a:latin typeface="Calibri"/>
              </a:rPr>
              <a:t>italic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, and </a:t>
            </a:r>
            <a:r>
              <a:rPr lang="en-US" sz="1300" dirty="0">
                <a:solidFill>
                  <a:srgbClr val="333333"/>
                </a:solidFill>
                <a:latin typeface="Consolas"/>
              </a:rPr>
              <a:t>inline code</a:t>
            </a:r>
            <a:r>
              <a:rPr lang="en-US" sz="1800" dirty="0">
                <a:solidFill>
                  <a:srgbClr val="333333"/>
                </a:solidFill>
                <a:latin typeface="Calibri"/>
              </a:rPr>
              <a:t> formatting.</a:t>
            </a:r>
          </a:p>
          <a:p xmlns:a="http://schemas.openxmlformats.org/drawingml/2006/main">
            <a:pPr>
              <a:spcBef>
                <a:spcPts val="200"/>
              </a:spcBef>
            </a:pPr>
            <a:r>
              <a:rPr lang="en-US" sz="1800" i="1" dirty="0">
                <a:latin typeface="Calibri"/>
              </a:rPr>
              <a:t>    </a:t>
            </a:r>
            <a:r>
              <a:rPr lang="en-US" sz="1800" i="1" dirty="0">
                <a:solidFill>
                  <a:srgbClr val="333333"/>
                </a:solidFill>
                <a:latin typeface="Calibri"/>
              </a:rPr>
              <a:t>This is a block quote — great for callouts and notes.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333333"/>
                </a:solidFill>
                <a:latin typeface="Calibri"/>
              </a:rPr>
              <a:t>Thank You!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333333"/>
                </a:solidFill>
                <a:latin typeface="Calibri"/>
              </a:rPr>
              <a:t>Built with Markdig, DocumentFormat.OpenXml, and ColorCode.Core.</a:t>
            </a:r>
          </a:p>
        </p:txBody>
      </p:sp>
    </p:spTree>
  </p:cSld>
  <p:clrMapOvr>
    <a:masterClrMapping xmlns:a="http://schemas.openxmlformats.org/drawingml/2006/main"/>
  </p:clrMapOvr>
</p:sld>
</file>