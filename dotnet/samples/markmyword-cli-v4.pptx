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86e3576419444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2"/>
    <p:sldId xmlns:r="http://schemas.openxmlformats.org/officeDocument/2006/relationships" id="257" r:id="rId3"/>
    <p:sldId xmlns:r="http://schemas.openxmlformats.org/officeDocument/2006/relationships" id="258" r:id="rId4"/>
    <p:sldId xmlns:r="http://schemas.openxmlformats.org/officeDocument/2006/relationships" id="259" r:id="rId5"/>
    <p:sldId xmlns:r="http://schemas.openxmlformats.org/officeDocument/2006/relationships" id="260" r:id="rId6"/>
    <p:sldId xmlns:r="http://schemas.openxmlformats.org/officeDocument/2006/relationships" id="261" r:id="rId7"/>
    <p:sldId xmlns:r="http://schemas.openxmlformats.org/officeDocument/2006/relationships" id="262" r:id="rId8"/>
    <p:sldId xmlns:r="http://schemas.openxmlformats.org/officeDocument/2006/relationships" id="263" r:id="rId9"/>
    <p:sldId xmlns:r="http://schemas.openxmlformats.org/officeDocument/2006/relationships" id="264" r:id="rId10"/>
    <p:sldId xmlns:r="http://schemas.openxmlformats.org/officeDocument/2006/relationships" id="265" r:id="rId11"/>
    <p:sldId xmlns:r="http://schemas.openxmlformats.org/officeDocument/2006/relationships" id="266" r:id="rId12"/>
    <p:sldId xmlns:r="http://schemas.openxmlformats.org/officeDocument/2006/relationships" id="267" r:id="rId13"/>
    <p:sldId xmlns:r="http://schemas.openxmlformats.org/officeDocument/2006/relationships" id="268" r:id="rId14"/>
    <p:sldId xmlns:r="http://schemas.openxmlformats.org/officeDocument/2006/relationships" id="269" r:id="rId15"/>
    <p:sldId xmlns:r="http://schemas.openxmlformats.org/officeDocument/2006/relationships" id="270" r:id="rId16"/>
    <p:sldId xmlns:r="http://schemas.openxmlformats.org/officeDocument/2006/relationships" id="271" r:id="rId17"/>
    <p:sldId xmlns:r="http://schemas.openxmlformats.org/officeDocument/2006/relationships" id="272" r:id="rId18"/>
    <p:sldId xmlns:r="http://schemas.openxmlformats.org/officeDocument/2006/relationships" id="273" r:id="rId19"/>
    <p:sldId xmlns:r="http://schemas.openxmlformats.org/officeDocument/2006/relationships" id="274" r:id="rId20"/>
    <p:sldId xmlns:r="http://schemas.openxmlformats.org/officeDocument/2006/relationships" id="275" r:id="rId21"/>
    <p:sldId xmlns:r="http://schemas.openxmlformats.org/officeDocument/2006/relationships" id="276" r:id="rId22"/>
    <p:sldId xmlns:r="http://schemas.openxmlformats.org/officeDocument/2006/relationships" id="277" r:id="rId23"/>
    <p:sldId xmlns:r="http://schemas.openxmlformats.org/officeDocument/2006/relationships" id="278" r:id="rId24"/>
    <p:sldId xmlns:r="http://schemas.openxmlformats.org/officeDocument/2006/relationships" id="279" r:id="rId25"/>
    <p:sldId xmlns:r="http://schemas.openxmlformats.org/officeDocument/2006/relationships" id="280" r:id="rId26"/>
    <p:sldId xmlns:r="http://schemas.openxmlformats.org/officeDocument/2006/relationships" id="281" r:id="rId27"/>
    <p:sldId xmlns:r="http://schemas.openxmlformats.org/officeDocument/2006/relationships" id="282" r:id="rId28"/>
    <p:sldId xmlns:r="http://schemas.openxmlformats.org/officeDocument/2006/relationships" id="283" r:id="rId29"/>
    <p:sldId xmlns:r="http://schemas.openxmlformats.org/officeDocument/2006/relationships" id="284" r:id="rId30"/>
    <p:sldId xmlns:r="http://schemas.openxmlformats.org/officeDocument/2006/relationships" id="285" r:id="rId31"/>
    <p:sldId xmlns:r="http://schemas.openxmlformats.org/officeDocument/2006/relationships" id="286" r:id="rId32"/>
    <p:sldId xmlns:r="http://schemas.openxmlformats.org/officeDocument/2006/relationships" id="287" r:id="rId33"/>
    <p:sldId xmlns:r="http://schemas.openxmlformats.org/officeDocument/2006/relationships" id="288" r:id="rId34"/>
    <p:sldId xmlns:r="http://schemas.openxmlformats.org/officeDocument/2006/relationships" id="289" r:id="rId35"/>
    <p:sldId xmlns:r="http://schemas.openxmlformats.org/officeDocument/2006/relationships" id="290" r:id="rId36"/>
    <p:sldId xmlns:r="http://schemas.openxmlformats.org/officeDocument/2006/relationships" id="291" r:id="rId37"/>
    <p:sldId xmlns:r="http://schemas.openxmlformats.org/officeDocument/2006/relationships" id="292" r:id="rId38"/>
    <p:sldId xmlns:r="http://schemas.openxmlformats.org/officeDocument/2006/relationships" id="293" r:id="rId39"/>
  </p:sldIdLst>
  <p:sldSz cx="914400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Relationship Type="http://schemas.openxmlformats.org/officeDocument/2006/relationships/slide" Target="/ppt/slides/slide10.xml" Id="rId11" /><Relationship Type="http://schemas.openxmlformats.org/officeDocument/2006/relationships/slide" Target="/ppt/slides/slide11.xml" Id="rId12" /><Relationship Type="http://schemas.openxmlformats.org/officeDocument/2006/relationships/slide" Target="/ppt/slides/slide12.xml" Id="rId13" /><Relationship Type="http://schemas.openxmlformats.org/officeDocument/2006/relationships/slide" Target="/ppt/slides/slide13.xml" Id="rId14" /><Relationship Type="http://schemas.openxmlformats.org/officeDocument/2006/relationships/slide" Target="/ppt/slides/slide14.xml" Id="rId15" /><Relationship Type="http://schemas.openxmlformats.org/officeDocument/2006/relationships/slide" Target="/ppt/slides/slide15.xml" Id="rId16" /><Relationship Type="http://schemas.openxmlformats.org/officeDocument/2006/relationships/slide" Target="/ppt/slides/slide16.xml" Id="rId17" /><Relationship Type="http://schemas.openxmlformats.org/officeDocument/2006/relationships/slide" Target="/ppt/slides/slide17.xml" Id="rId18" /><Relationship Type="http://schemas.openxmlformats.org/officeDocument/2006/relationships/slide" Target="/ppt/slides/slide18.xml" Id="rId19" /><Relationship Type="http://schemas.openxmlformats.org/officeDocument/2006/relationships/slide" Target="/ppt/slides/slide19.xml" Id="rId20" /><Relationship Type="http://schemas.openxmlformats.org/officeDocument/2006/relationships/slide" Target="/ppt/slides/slide20.xml" Id="rId21" /><Relationship Type="http://schemas.openxmlformats.org/officeDocument/2006/relationships/slide" Target="/ppt/slides/slide21.xml" Id="rId22" /><Relationship Type="http://schemas.openxmlformats.org/officeDocument/2006/relationships/slide" Target="/ppt/slides/slide22.xml" Id="rId23" /><Relationship Type="http://schemas.openxmlformats.org/officeDocument/2006/relationships/slide" Target="/ppt/slides/slide23.xml" Id="rId24" /><Relationship Type="http://schemas.openxmlformats.org/officeDocument/2006/relationships/slide" Target="/ppt/slides/slide24.xml" Id="rId25" /><Relationship Type="http://schemas.openxmlformats.org/officeDocument/2006/relationships/slide" Target="/ppt/slides/slide25.xml" Id="rId26" /><Relationship Type="http://schemas.openxmlformats.org/officeDocument/2006/relationships/slide" Target="/ppt/slides/slide26.xml" Id="rId27" /><Relationship Type="http://schemas.openxmlformats.org/officeDocument/2006/relationships/slide" Target="/ppt/slides/slide27.xml" Id="rId28" /><Relationship Type="http://schemas.openxmlformats.org/officeDocument/2006/relationships/slide" Target="/ppt/slides/slide28.xml" Id="rId29" /><Relationship Type="http://schemas.openxmlformats.org/officeDocument/2006/relationships/slide" Target="/ppt/slides/slide29.xml" Id="rId30" /><Relationship Type="http://schemas.openxmlformats.org/officeDocument/2006/relationships/slide" Target="/ppt/slides/slide30.xml" Id="rId31" /><Relationship Type="http://schemas.openxmlformats.org/officeDocument/2006/relationships/slide" Target="/ppt/slides/slide31.xml" Id="rId32" /><Relationship Type="http://schemas.openxmlformats.org/officeDocument/2006/relationships/slide" Target="/ppt/slides/slide32.xml" Id="rId33" /><Relationship Type="http://schemas.openxmlformats.org/officeDocument/2006/relationships/slide" Target="/ppt/slides/slide33.xml" Id="rId34" /><Relationship Type="http://schemas.openxmlformats.org/officeDocument/2006/relationships/slide" Target="/ppt/slides/slide34.xml" Id="rId35" /><Relationship Type="http://schemas.openxmlformats.org/officeDocument/2006/relationships/slide" Target="/ppt/slides/slide35.xml" Id="rId36" /><Relationship Type="http://schemas.openxmlformats.org/officeDocument/2006/relationships/slide" Target="/ppt/slides/slide36.xml" Id="rId37" /><Relationship Type="http://schemas.openxmlformats.org/officeDocument/2006/relationships/slide" Target="/ppt/slides/slide37.xml" Id="rId38" /><Relationship Type="http://schemas.openxmlformats.org/officeDocument/2006/relationships/slide" Target="/ppt/slides/slide38.xml" Id="rId3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slideMasters/theme/theme1.xml" Id="rId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Masters/theme/theme1.xml><?xml version="1.0" encoding="utf-8"?>
<a:theme xmlns:a="http://schemas.openxmlformats.org/drawingml/2006/main" name="MarkMyDeck Theme">
  <a:themeElements>
    <a:clrScheme name="MarkMyDeck">
      <a:dk1>
        <a:srgbClr val="1B3A5C"/>
      </a:dk1>
      <a:lt1>
        <a:srgbClr val="FAFBFC"/>
      </a:lt1>
      <a:dk2>
        <a:srgbClr val="2D2D2D"/>
      </a:dk2>
      <a:lt2>
        <a:srgbClr val="F0F4F8"/>
      </a:lt2>
      <a:accent1>
        <a:srgbClr val="2E86DE"/>
      </a:accent1>
      <a:accent2>
        <a:srgbClr val="10AC84"/>
      </a:accent2>
      <a:accent3>
        <a:srgbClr val="EE5A24"/>
      </a:accent3>
      <a:accent4>
        <a:srgbClr val="6C5CE7"/>
      </a:accent4>
      <a:accent5>
        <a:srgbClr val="FDA7DF"/>
      </a:accent5>
      <a:accent6>
        <a:srgbClr val="F9CA24"/>
      </a:accent6>
      <a:hlink>
        <a:srgbClr val="2E86DE"/>
      </a:hlink>
      <a:folHlink>
        <a:srgbClr val="6C5CE7"/>
      </a:folHlink>
    </a:clrScheme>
    <a:fontScheme name="MarkMyDeck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MarkMyDeck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xoofx/markdig" TargetMode="External" Id="R324e909695ef45f8" /><Relationship Type="http://schemas.openxmlformats.org/officeDocument/2006/relationships/hyperlink" Target="https://github.com/dotnet/Open-XML-SDK" TargetMode="External" Id="R19efd96fc3204d0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spec.commonmark.org/0.31.2/" TargetMode="External" Id="R761c06e7a2a240db" /><Relationship Type="http://schemas.openxmlformats.org/officeDocument/2006/relationships/hyperlink" Target="https://learn.microsoft.com/en-us/office/open-xml/" TargetMode="External" Id="R135f6846225d4bf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hyperlink" Target="https://github.com/xoofx/markdig" TargetMode="External" Id="R9c27dc5636e24d64" /><Relationship Type="http://schemas.openxmlformats.org/officeDocument/2006/relationships/hyperlink" Target="https://github.com/dotnet/Open-XML-SDK" TargetMode="External" Id="Ra667d6a36cc74163" /><Relationship Type="http://schemas.openxmlformats.org/officeDocument/2006/relationships/hyperlink" Target="https://commonmark.org/" TargetMode="External" Id="Rbeb6d20e6bd24641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b="0" dirty="0">
                <a:solidFill>
                  <a:srgbClr val="2D2D2D"/>
                </a:solidFill>
                <a:latin typeface="Segoe UI"/>
              </a:rPr>
              <a:t>MarkMyWord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A .NET 9 library for bidirectional conversion between CommonMark/GitHub Flavored Markdown and Microsoft Word (.docx) documents.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Features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provides bidirectional conversion between Markdown and Word: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Markdown → Word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Convert CommonMark markdown to Word (.docx) documents using the Open XML SDK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Word → Markdown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Convert Word documents back to CommonMark or GitHub Flavored Markdown, optimized for LLM grounding and roundtripping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Markdown to Word - Currently Supported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Block Elements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Headings (ATX: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 H1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through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###### H6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Setext: underlined)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Paragraphs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Code blocks (fenced with ``` and indented)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Block quotes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&gt;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Thematic breaks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---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___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Lists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(ordered, unordered, nested with proper indentation)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Tables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(with headers, borders, and shading)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Inline Elements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Bold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**text**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__text__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Italic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*text*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_text_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Features (cont.)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Bold + Italic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***text***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Inline code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`code`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Links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[text](url)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![alt](url)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supports local files and URLs with fallback)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Hard line breaks (two spaces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\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at end of line)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Styling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Customizable fonts and colors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Configurable heading styles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Code syntax highlighting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for JSON, TypeSpec, and Bash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Automatic spell/grammar check suppression for code blocks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Coming Soon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Task lists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Footnotes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Definition lists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Word to Markdown Conversion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Features (cont.)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Supported Elements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Headings (H1-H6) → Markdown headings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through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######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Paragraphs → Plain text with proper spacing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Bold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and </a:t>
            </a:r>
            <a:r>
              <a:rPr lang="en-US" sz="1800" i="1" dirty="0">
                <a:solidFill>
                  <a:srgbClr val="2D2D2D"/>
                </a:solidFill>
                <a:latin typeface="Segoe UI"/>
              </a:rPr>
              <a:t>Italic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text → Markdown emphasis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**bold**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,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*italic*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Inline code → Backtick syntax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`code`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Lists (ordered and unordered, nested) → Markdown lists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Tables → GitHub Flavored Markdown table syntax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Links →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[text](url)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syntax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Images →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![alt](path)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with optional extraction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Code blocks → Fenced code blocks with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```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Block quotes →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&gt;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prefix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Conversion Options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CommonMark or GitHub Flavored Markdown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output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LLM-optimized output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Clean, semantic content for AI grounding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Metadata extraction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Document properties as YAML frontmatter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Features (cont.)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 extraction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Save embedded images to files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Roundtripping support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Preserve formatting for Word ↔ Markdown conversion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Installation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add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package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Quick Start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Markdown to Word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Word to Markdown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markdown string to .docx file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"# Hello World\n\nThis is **bold** text.";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"output.docx");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Quick Start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34338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MarkMyWord.Configuration;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Word document to markdown file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WordConverter.ConvertToMarkdown("input.docx", "output.md");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With options for LLM grounding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WordToMarkdownOptions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Flavor = MarkdownFlavor.GitHubFlavoredMarkdown,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OptimizeForLLM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ExtractImages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IncludeMetadata = false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WordConverter.ConvertToMarkdown("document.docx", "output.md", options);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to string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WordConverter.ConvertToMarkdownString("document.docx");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Convert to Byte Array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Quick Start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Get the document as a byte array (useful for web scenarios)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byte[] docxBytes = MarkdownConverter.ConvertToDocxBytes(markdown);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Stream-based Conversion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Async Conversion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Lists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82836"/>
            <a:ext cx="7863840" cy="110743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Convert from stream to stream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var inputStream = File.OpenRead("input.md");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var outputStream = File.Create("output.docx");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MarkdownConverter.ConvertToDocx(inputStream, outputStream);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581712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Async conversion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await MarkdownConverter.ConvertToDocxAsync(markdown, "output.docx");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Quick Start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573021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Unordered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unorderedList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Shopping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Apples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Bananas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Oranges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- Naval oranges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- Blood oranges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MarkdownConverter.ConvertToDocx(unorderedList, "shopping.docx");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Ordered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orderedList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Instructions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1. Preheat oven to 350°F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2. Mix ingredients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3. Bake for 30 minutes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1. Check at 25 minutes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2. Test with toothpick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4. Let cool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MarkdownConverter.ConvertToDocx(orderedList, "instructions.docx");</a:t>
            </a:r>
          </a:p>
        </p:txBody>
      </p:sp>
    </p:spTree>
  </p:cSld>
  <p:clrMapOvr>
    <a:masterClrMapping xmlns:a="http://schemas.openxmlformats.org/drawingml/2006/main"/>
  </p:clrMapOvr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Command-Line Interface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includes a powerful CLI for converting markdown files from the command line.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Installation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Or run directly from the project: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Usage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The CLI automatically detects the conversion direction based on file extension: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.md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or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.markdown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input → converts to Word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.docx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.docx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input → converts to Markdown (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.md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)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Markdown to Word: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Word to Markdown: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Specify output file: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Custom font and size: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7775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tool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install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global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SpecWorks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CLI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83217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run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project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src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csproj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command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options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9799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README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34596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</a:p>
        </p:txBody>
      </p:sp>
      <p:sp>
        <p:nvSpPr>
          <p:cNvPr id="10" name="Code 1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71194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</a:p>
        </p:txBody>
      </p:sp>
    </p:spTree>
  </p:cSld>
  <p:clrMapOvr>
    <a:masterClrMapping xmlns:a="http://schemas.openxmlformats.org/drawingml/2006/main"/>
  </p:clrMapOvr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Command-Line Interface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font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"Times New Roman"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font-size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12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Use custom style configuration: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Verbose output: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Force overwrite: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Word to Markdown with options: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51697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custom-style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json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7156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v</a:t>
            </a:r>
          </a:p>
        </p:txBody>
      </p:sp>
      <p:sp>
        <p:nvSpPr>
          <p:cNvPr id="9" name="Code 10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62615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force</a:t>
            </a:r>
          </a:p>
        </p:txBody>
      </p:sp>
    </p:spTree>
  </p:cSld>
  <p:clrMapOvr>
    <a:masterClrMapping xmlns:a="http://schemas.openxmlformats.org/drawingml/2006/main"/>
  </p:clrMapOvr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Command-Line Interface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41882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Convert Word to GitHub Flavored Markdown (default)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output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Convert to strict CommonMark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commonmark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Optimize for LLM grounding (clean, semantic output)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optimize-llm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Include document metadata as YAML frontmatter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include-metadata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 Don't extract images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docx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extract-images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B4FA"/>
                </a:solidFill>
                <a:latin typeface="Cascadia Code"/>
              </a:rPr>
              <a:t>false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View version: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Get help: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CLI Options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200" b="1" dirty="0">
                <a:solidFill>
                  <a:srgbClr val="2D2D2D"/>
                </a:solidFill>
                <a:latin typeface="Segoe UI"/>
              </a:rPr>
              <a:t>Common Options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200" b="1" dirty="0">
                <a:solidFill>
                  <a:srgbClr val="2D2D2D"/>
                </a:solidFill>
                <a:latin typeface="Segoe UI"/>
              </a:rPr>
              <a:t>Markdown to Word Options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200" b="1" dirty="0">
                <a:solidFill>
                  <a:srgbClr val="2D2D2D"/>
                </a:solidFill>
                <a:latin typeface="Segoe UI"/>
              </a:rPr>
              <a:t>Word to Markdown Options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56504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version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1963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help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help</a:t>
            </a:r>
          </a:p>
        </p:txBody>
      </p:sp>
      <p:graphicFrame>
        <p:nvGraphicFramePr>
          <p:cNvPr id="9" name="Table 10"/>
          <p:cNvGraphicFramePr/>
          <p:nvPr/>
        </p:nvGraphicFramePr>
        <p:xfrm>
          <a:off xmlns:a="http://schemas.openxmlformats.org/drawingml/2006/main" x="640080" y="6307121"/>
          <a:ext xmlns:a="http://schemas.openxmlformats.org/drawingml/2006/main" cx="7863840" cy="1828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Option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Alias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--input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-i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Input file path (.md or .docx) (required)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--output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-o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Output file path (auto-detects extension)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--verbose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-v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Enable verbose output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--force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Overwrite output file if it exists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11"/>
          <p:cNvGraphicFramePr/>
          <p:nvPr/>
        </p:nvGraphicFramePr>
        <p:xfrm>
          <a:off xmlns:a="http://schemas.openxmlformats.org/drawingml/2006/main" x="640080" y="8135921"/>
          <a:ext xmlns:a="http://schemas.openxmlformats.org/drawingml/2006/main" cx="7863840" cy="146304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Option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Alias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--font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-f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Default font name (e.g., 'Calibri')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--font-size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-s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Default font size (6-72 points)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--style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Path to JSON style configuration file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2"/>
          <p:cNvGraphicFramePr/>
          <p:nvPr/>
        </p:nvGraphicFramePr>
        <p:xfrm>
          <a:off xmlns:a="http://schemas.openxmlformats.org/drawingml/2006/main" x="640080" y="9598961"/>
          <a:ext xmlns:a="http://schemas.openxmlformats.org/drawingml/2006/main" cx="7863840" cy="219456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Option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Description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Segoe UI"/>
                        </a:rPr>
                        <a:t>Default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--to-markdown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Explicitly convert to Markdown (auto-detected)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false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--extract-images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Extract and save embedded images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true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--optimize-llm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Optimize output for LLM grounding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true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--commonmark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Use strict CommonMark instead of GFM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false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  <a:solidFill>
                      <a:srgbClr val="F0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--include-metadata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>Include document metadata as YAML frontmatter</a:t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  <a:r>
                        <a:rPr lang="en-US" sz="1300" dirty="0">
                          <a:solidFill>
                            <a:srgbClr val="2D2D2D"/>
                          </a:solidFill>
                          <a:latin typeface="Cascadia Code"/>
                        </a:rPr>
                        <a:t>false</a:t>
                      </a:r>
                      <a:r>
                        <a:rPr lang="en-US" sz="1800" dirty="0">
                          <a:solidFill>
                            <a:srgbClr val="2D2D2D"/>
                          </a:solidFill>
                          <a:latin typeface="Segoe UI"/>
                        </a:rPr>
                        <a:t/>
                      </a:r>
                    </a:p>
                  </a:txBody>
                  <a:tcPr>
                    <a:lnL w="6350">
                      <a:solidFill>
                        <a:srgbClr val="DEE2E6"/>
                      </a:solidFill>
                    </a:lnL>
                    <a:lnR w="6350">
                      <a:solidFill>
                        <a:srgbClr val="DEE2E6"/>
                      </a:solidFill>
                    </a:lnR>
                    <a:lnT w="6350">
                      <a:solidFill>
                        <a:srgbClr val="DEE2E6"/>
                      </a:solidFill>
                    </a:lnT>
                    <a:lnB w="6350">
                      <a:solidFill>
                        <a:srgbClr val="DEE2E6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Advanced Usage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Word to Markdown Options</a:t>
            </a:r>
          </a:p>
        </p:txBody>
      </p:sp>
    </p:spTree>
  </p:cSld>
  <p:clrMapOvr>
    <a:masterClrMapping xmlns:a="http://schemas.openxmlformats.org/drawingml/2006/main"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Advanced Usage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827274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MarkMyWord.Configuration;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// Configure Word to Markdown conversion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WordToMarkdownOptions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Use GitHub Flavored Markdown (supports tables, strikethrough, etc.)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Flavor = MarkdownFlavor.GitHubFlavoredMarkdown,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Optimize for LLM grounding (clean, semantic content)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OptimizeForLLM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Extract embedded images to files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ExtractImages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Directory for extracted images (default: same as output file)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ImageOutputDirectory = "./images",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URL prefix for image links in markdown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ImageUrlPrefix = "https://example.com/images/",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Include document metadata as YAML frontmatter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IncludeMetadata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Preserve formatting metadata for roundtripping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PreserveFormattingMetadata = false,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Use HTML for complex formatting when no markdown equivalent exists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UseHtmlForComplexFormatting = false,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// Line ending style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LineEndings = LineEndingStyle.LF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WordConverter.ConvertToMarkdown("document.docx", "output.md", options);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Markdown to Word Custom Styling</a:t>
            </a:r>
          </a:p>
        </p:txBody>
      </p:sp>
    </p:spTree>
  </p:cSld>
  <p:clrMapOvr>
    <a:masterClrMapping xmlns:a="http://schemas.openxmlformats.org/drawingml/2006/main"/>
  </p:clrMapOvr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Advanced Usage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1224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MarkMyWord.Configuration;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DefaultFontName = "Georgia",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DefaultFontSize = 12,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CodeFontName = "Fira Code",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CodeFontSize = 10,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CodeBackgroundColor = "F5F5F5",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QuoteLeftBorderColor = "4A90E2",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QuoteBackgroundColor = "EEF7FF"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"output.docx", options);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Custom Heading Styles</a:t>
            </a:r>
          </a:p>
        </p:txBody>
      </p:sp>
    </p:spTree>
  </p:cSld>
  <p:clrMapOvr>
    <a:masterClrMapping xmlns:a="http://schemas.openxmlformats.org/drawingml/2006/main"/>
  </p:clrMapOvr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Advanced Usage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57452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HeadingStyles = new[]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new HeadingStyle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Level = 1,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FontSize = 24,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Bold = true,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Color = "2E74B5",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SpacingBeforeTwips = 480,  // 1/3 inch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    SpacingAfterTwips = 240    // 1/6 inch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},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// ... configure levels 2-6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JSON Style Configuration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You can define styles in a JSON file and load them using the CLI or programmatically: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custom-style.json:</a:t>
            </a:r>
          </a:p>
        </p:txBody>
      </p:sp>
    </p:spTree>
  </p:cSld>
  <p:clrMapOvr>
    <a:masterClrMapping xmlns:a="http://schemas.openxmlformats.org/drawingml/2006/main"/>
  </p:clrMapOvr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Advanced Usage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919730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"styles"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"defaultFontName"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"Georgia"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"defaultFontSize"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12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"headingStyles"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[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"level"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28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"bold"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"2E74B5"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"spacingBeforeTwips"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480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"spacingAfterTwips"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240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"level"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"bold"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"2E74B5"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"spacingBeforeTwips"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400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"spacingAfterTwips"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200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"level"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3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16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"bold"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true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"1F4D78"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"spacingBeforeTwips"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320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"spacingAfterTwips"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160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]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"codeFontName"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"Fira Code"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"codeFontSize"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10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"codeBackgroundColor"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"282C34"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"quoteLeftBorderColor"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"4A90E2"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"quoteLeftBorderWidth"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4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"quoteBackgroundColor"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"EEF7FF"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74C7EC"/>
                </a:solidFill>
                <a:latin typeface="Cascadia Code"/>
              </a:rPr>
              <a:t>"listIndentationTwips"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FAB387"/>
                </a:solidFill>
                <a:latin typeface="Cascadia Code"/>
              </a:rPr>
              <a:t>720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DCEB"/>
                </a:solidFill>
                <a:latin typeface="Cascadia Code"/>
              </a:rPr>
              <a:t>}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Use with CLI:</a:t>
            </a:r>
          </a:p>
        </p:txBody>
      </p:sp>
    </p:spTree>
  </p:cSld>
  <p:clrMapOvr>
    <a:masterClrMapping xmlns:a="http://schemas.openxmlformats.org/drawingml/2006/main"/>
  </p:clrMapOvr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Advanced Usage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401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document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custom-style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json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Load programmatically: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Notes: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Colors are hex values without the </a:t>
            </a:r>
            <a:r>
              <a:rPr lang="en-US" sz="1300" dirty="0">
                <a:solidFill>
                  <a:srgbClr val="2D2D2D"/>
                </a:solidFill>
                <a:latin typeface="Cascadia Code"/>
              </a:rPr>
              <a:t>#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prefix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Spacing values are in twips (1440 twips = 1 inch)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Font sizes are in points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Document Metadata</a:t>
            </a:r>
          </a:p>
        </p:txBody>
      </p:sp>
      <p:sp>
        <p:nvSpPr>
          <p:cNvPr id="7" name="Code 8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51697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using System.Text.Json;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json = File.ReadAllText("custom-style.json");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config = JsonSerializer.Deserialize&lt;ConversionOptions&gt;(json);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"output.docx", config);</a:t>
            </a:r>
          </a:p>
        </p:txBody>
      </p:sp>
      <p:sp>
        <p:nvSpPr>
          <p:cNvPr id="8" name="Code 9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918"/>
            <a:ext cx="7863840" cy="2031992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DocumentTitle = "My Document",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Author = "John Doe",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Subject = "Technical Documentation"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"output.docx", options);</a:t>
            </a:r>
          </a:p>
        </p:txBody>
      </p:sp>
    </p:spTree>
  </p:cSld>
  <p:clrMapOvr>
    <a:masterClrMapping xmlns:a="http://schemas.openxmlformats.org/drawingml/2006/main"/>
  </p:clrMapOvr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Architecture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280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uses a three-stage conversion pipeline: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1.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Parse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Markdown is parsed into an Abstract Syntax Tree (AST) using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324e909695ef45f8"/>
              </a:rPr>
              <a:t>Markdig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2.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Render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The AST is traversed and converted to OpenXML elements using specialized renderers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3.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Style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: Styles are applied and the document is saved using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19efd96fc3204d00"/>
              </a:rPr>
              <a:t>DocumentFormat.OpenXml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838"/>
            <a:ext cx="7863840" cy="272540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 Text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Markdig Parser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AST (Syntax Tree)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OpenXmlRenderer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OpenXML Elements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↓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Word Document (.docx)</a:t>
            </a:r>
          </a:p>
        </p:txBody>
      </p:sp>
    </p:spTree>
  </p:cSld>
  <p:clrMapOvr>
    <a:masterClrMapping xmlns:a="http://schemas.openxmlformats.org/drawingml/2006/main"/>
  </p:clrMapOvr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Project Structure</a:t>
            </a:r>
          </a:p>
        </p:txBody>
      </p:sp>
    </p:spTree>
  </p:cSld>
  <p:clrMapOvr>
    <a:masterClrMapping xmlns:a="http://schemas.openxmlformats.org/drawingml/2006/main"/>
  </p:clrMapOvr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Project Structure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619249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├── src/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├── MarkMyWord/                    # Core library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MarkdownConverter.cs       # Public API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Converters/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OpenXmlRenderer.cs     # Main renderer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BlockRenderers/        # Block element renderers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│   ├── CodeBlockRenderer.cs  # Code block rendering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│   ├── ListRenderer.cs    # List rendering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│   └── TableRenderer.cs   # Table rendering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└── InlineRenderers/       # Inline element renderers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    └── LinkInlineRenderer.cs  # Links &amp; images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SyntaxHighlighting/        # Syntax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ISyntaxHighlighter.cs  # Highlighter interface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ColorCodeHighlighter.cs   # JSON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TypeSpecHighlighter.cs    # TypeSpec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BashHighlighter.cs     # Bash/Shell highlighting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└── SyntaxHighlighterFactory.cs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├── OpenXml/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DocumentBuilder.cs     # OpenXML document builder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├── StyleManager.cs        # Style management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│   └── ListManager.cs         # List numbering management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│   └── Configuration/             # Configuration classes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│   └── MarkMyWord.CLI/                # Command-line tool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└── tests/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└── MarkMyWord.Tests/              # Unit tests (29 tests)</a:t>
            </a:r>
          </a:p>
        </p:txBody>
      </p:sp>
    </p:spTree>
  </p:cSld>
  <p:clrMapOvr>
    <a:masterClrMapping xmlns:a="http://schemas.openxmlformats.org/drawingml/2006/main"/>
  </p:clrMapOvr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Requirements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.NET 9.0 or later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Dependencies:</a:t>
            </a:r>
          </a:p>
          <a:p xmlns:a="http://schemas.openxmlformats.org/drawingml/2006/main">
            <a:pPr marL="9144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○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Markdig 0.37.0</a:t>
            </a:r>
          </a:p>
          <a:p xmlns:a="http://schemas.openxmlformats.org/drawingml/2006/main">
            <a:pPr marL="9144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○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DocumentFormat.OpenXml 3.1.0</a:t>
            </a:r>
          </a:p>
          <a:p xmlns:a="http://schemas.openxmlformats.org/drawingml/2006/main">
            <a:pPr marL="9144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○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ColorCode.Core 2.0.15</a:t>
            </a:r>
          </a:p>
        </p:txBody>
      </p:sp>
    </p:spTree>
  </p:cSld>
  <p:clrMapOvr>
    <a:masterClrMapping xmlns:a="http://schemas.openxmlformats.org/drawingml/2006/main"/>
  </p:clrMapOvr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Building from Source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107436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git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clone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https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: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github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com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yourusername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/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git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B4FA"/>
                </a:solidFill>
                <a:latin typeface="Cascadia Code"/>
              </a:rPr>
              <a:t>cd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build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89B4FA"/>
                </a:solidFill>
                <a:latin typeface="Cascadia Code"/>
              </a:rPr>
              <a:t>test</a:t>
            </a:r>
          </a:p>
        </p:txBody>
      </p:sp>
    </p:spTree>
  </p:cSld>
  <p:clrMapOvr>
    <a:masterClrMapping xmlns:a="http://schemas.openxmlformats.org/drawingml/2006/main"/>
  </p:clrMapOvr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Examples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Convert a README file</a:t>
            </a:r>
          </a:p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Lists Example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718"/>
            <a:ext cx="7863840" cy="6451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markdown = File.ReadAllText("README.md");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"README.docx");</a:t>
            </a:r>
          </a:p>
        </p:txBody>
      </p:sp>
    </p:spTree>
  </p:cSld>
  <p:clrMapOvr>
    <a:masterClrMapping xmlns:a="http://schemas.openxmlformats.org/drawingml/2006/main"/>
  </p:clrMapOvr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Examples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1224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Shopping List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## Groceries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Milk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Eggs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Bread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## Tasks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1. Buy groceries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2. Clean house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3. Do laundry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- Whites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- Colors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"shopping-list.docx");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Images Example</a:t>
            </a:r>
          </a:p>
        </p:txBody>
      </p:sp>
    </p:spTree>
  </p:cSld>
  <p:clrMapOvr>
    <a:masterClrMapping xmlns:a="http://schemas.openxmlformats.org/drawingml/2006/main"/>
  </p:clrMapOvr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Examples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272540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Product Documentation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![Product Logo](logo.png)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Our product features: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![Feature 1](https://example.com/feature1.png)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![Feature 2](./images/feature2.jpg)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"product-doc.docx");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Tables Example</a:t>
            </a:r>
          </a:p>
        </p:txBody>
      </p:sp>
    </p:spTree>
  </p:cSld>
  <p:clrMapOvr>
    <a:masterClrMapping xmlns:a="http://schemas.openxmlformats.org/drawingml/2006/main"/>
  </p:clrMapOvr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Examples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2725409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Sales Report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Product | Q1 Sales | Q2 Sales | Total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|---------|----------|----------|-------|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Widget A | $1,000 | $1,200 | $2,200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Widget B | $850 | $900 | $1,750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| Widget C | $1,500 | $1,600 | $3,100 |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";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"sales-report.docx");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Syntax Highlighting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supports syntax highlighting for code blocks, making code more readable in Word documents: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Supported Languages: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JSON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Property names, strings, numbers, keywords (true/false/null)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TypeSpec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Keywords, types, decorators, comments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Bash/Shell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Commands, keywords, variables, strings, comments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Example:</a:t>
            </a:r>
          </a:p>
        </p:txBody>
      </p:sp>
    </p:spTree>
  </p:cSld>
  <p:clrMapOvr>
    <a:masterClrMapping xmlns:a="http://schemas.openxmlformats.org/drawingml/2006/main"/>
  </p:clrMapOvr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Examples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2263131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markdown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API Response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```json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""name"": ""MarkMyWord"",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""version"": ""0.2.0"",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""enabled"": true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</a:t>
            </a:r>
          </a:p>
        </p:txBody>
      </p:sp>
      <p:sp>
        <p:nvSpPr>
          <p:cNvPr id="6" name="Code 7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00809"/>
            <a:ext cx="7863840" cy="13385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6C7086"/>
                </a:solidFill>
                <a:latin typeface="Cascadia Code"/>
              </a:rPr>
              <a:t>#!/bin/bash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89B4FA"/>
                </a:solidFill>
                <a:latin typeface="Cascadia Code"/>
              </a:rPr>
              <a:t>echo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Converting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files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for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file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in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*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.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md</a:t>
            </a:r>
            <a:r>
              <a:rPr lang="en-US" sz="1300" dirty="0">
                <a:solidFill>
                  <a:srgbClr val="89DCEB"/>
                </a:solidFill>
                <a:latin typeface="Cascadia Code"/>
              </a:rPr>
              <a:t>;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BA6F7"/>
                </a:solidFill>
                <a:latin typeface="Cascadia Code"/>
              </a:rPr>
              <a:t>do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markmyword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convert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-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i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 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  <a:r>
              <a:rPr lang="en-US" sz="1300" dirty="0">
                <a:solidFill>
                  <a:srgbClr val="CDD6F4"/>
                </a:solidFill>
                <a:latin typeface="Cascadia Code"/>
              </a:rPr>
              <a:t>$file</a:t>
            </a:r>
            <a:r>
              <a:rPr lang="en-US" sz="1300" dirty="0">
                <a:solidFill>
                  <a:srgbClr val="A6E3A1"/>
                </a:solidFill>
                <a:latin typeface="Cascadia Code"/>
              </a:rPr>
              <a:t>""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BA6F7"/>
                </a:solidFill>
                <a:latin typeface="Cascadia Code"/>
              </a:rPr>
              <a:t>done</a:t>
            </a:r>
          </a:p>
        </p:txBody>
      </p:sp>
      <p:sp>
        <p:nvSpPr>
          <p:cNvPr id="7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";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MarkdownConverter.ConvertToDocx(markdown, "highlighted.docx");</a:t>
            </a:r>
          </a:p>
        </p:txBody>
      </p:sp>
    </p:spTree>
  </p:cSld>
  <p:clrMapOvr>
    <a:masterClrMapping xmlns:a="http://schemas.openxmlformats.org/drawingml/2006/main"/>
  </p:clrMapOvr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Examples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64996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**Features:**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Colors optimized for grey code block backgrounds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Automatic spell/grammar check suppression (no red squiggles!)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Trailing empty lines automatically removed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- Property names vs values distinguished in JSON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**Disable syntax highlighting:**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```csharp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EnableSyntaxHighlighting = false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MarkdownConverter.ConvertToDocx(markdown, "plain-code.docx", options);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Custom syntax colors:</a:t>
            </a:r>
          </a:p>
        </p:txBody>
      </p:sp>
    </p:spTree>
  </p:cSld>
  <p:clrMapOvr>
    <a:masterClrMapping xmlns:a="http://schemas.openxmlformats.org/drawingml/2006/main"/>
  </p:clrMapOvr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Examples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364996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SyntaxColorScheme = new SyntaxColorScheme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KeywordColor = "0000FF",     // Blue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StringColor = "A31515",      // Red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NumberColor = "098658",      // Green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CommentColor = "6A9955",     // Green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TypeColor = "4EC9B0",        // Cyan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    FunctionColor = "C4A000"     // Gold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</a:pPr>
            <a:r>
              <a:rPr lang="en-US" sz="2400" b="1" dirty="0">
                <a:solidFill>
                  <a:srgbClr val="2D2D2D"/>
                </a:solidFill>
                <a:latin typeface="Segoe UI"/>
              </a:rPr>
              <a:t>Convert with custom code block styling</a:t>
            </a:r>
          </a:p>
        </p:txBody>
      </p:sp>
    </p:spTree>
  </p:cSld>
  <p:clrMapOvr>
    <a:masterClrMapping xmlns:a="http://schemas.openxmlformats.org/drawingml/2006/main"/>
  </p:clrMapOvr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Examples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11224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var options = new ConversionOptions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Styles = new StyleConfiguration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CodeFontName = "Consolas",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CodeFontSize = 9,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    CodeBackgroundColor = "F5F5F5"  // Light grey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  }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};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string code = @"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 Code Example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```json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{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  ""message"": ""Hello, World!""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}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";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MarkdownConverter.ConvertToDocx(code, "code.docx", options);</a:t>
            </a:r>
          </a:p>
        </p:txBody>
      </p:sp>
    </p:spTree>
  </p:cSld>
  <p:clrMapOvr>
    <a:masterClrMapping xmlns:a="http://schemas.openxmlformats.org/drawingml/2006/main"/>
  </p:clrMapOvr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600" dirty="0">
                <a:solidFill>
                  <a:srgbClr val="FFFFFF"/>
                </a:solidFill>
                <a:latin typeface="Segoe UI Semibold"/>
              </a:rPr>
              <a:t>Examples (cont.)</a:t>
            </a:r>
          </a:p>
        </p:txBody>
      </p:sp>
      <p:sp>
        <p:nvSpPr>
          <p:cNvPr id="5" name="Code 6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1800853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E1E2E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82880" tIns="91440" rIns="182880" bIns="91440" rtlCol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## Testing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The library includes comprehensive unit tests covering all supported markdown syntax: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/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```bash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00" dirty="0">
                <a:solidFill>
                  <a:srgbClr val="CDD6F4"/>
                </a:solidFill>
                <a:latin typeface="Cascadia Code"/>
              </a:rPr>
              <a:t>dotnet test</a:t>
            </a:r>
          </a:p>
        </p:txBody>
      </p:sp>
      <p:sp>
        <p:nvSpPr>
          <p:cNvPr id="6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Current test coverage (29 tests):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Basic paragraph conversion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Headings (levels 1-6)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Bold and italic text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Inline code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Code blocks with language labels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Hyperlinks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Lists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(ordered, unordered, nested, mixed, with formatting)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(with fallback for missing images)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✅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Tables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(headers, multiple rows, shading, borders)</a:t>
            </a:r>
          </a:p>
        </p:txBody>
      </p:sp>
    </p:spTree>
  </p:cSld>
  <p:clrMapOvr>
    <a:masterClrMapping xmlns:a="http://schemas.openxmlformats.org/drawingml/2006/main"/>
  </p:clrMapOvr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Specifications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MarkMyWord implements: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761c06e7a2a240db"/>
              </a:rPr>
              <a:t>CommonMark 0.31.2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Markdown specification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135f6846225d4bf1"/>
              </a:rPr>
              <a:t>Office Open XML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Word document format</a:t>
            </a:r>
          </a:p>
        </p:txBody>
      </p:sp>
    </p:spTree>
  </p:cSld>
  <p:clrMapOvr>
    <a:masterClrMapping xmlns:a="http://schemas.openxmlformats.org/drawingml/2006/main"/>
  </p:clrMapOvr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Contributing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Contributions are welcome! Areas for contribution: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Task lists and checkboxes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Footnotes and references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Definition lists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Extended markdown features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Performance optimizations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Additional tests</a:t>
            </a:r>
          </a:p>
        </p:txBody>
      </p:sp>
    </p:spTree>
  </p:cSld>
  <p:clrMapOvr>
    <a:masterClrMapping xmlns:a="http://schemas.openxmlformats.org/drawingml/2006/main"/>
  </p:clrMapOvr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License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MIT License - See LICENSE file for details</a:t>
            </a:r>
          </a:p>
        </p:txBody>
      </p:sp>
    </p:spTree>
  </p:cSld>
  <p:clrMapOvr>
    <a:masterClrMapping xmlns:a="http://schemas.openxmlformats.org/drawingml/2006/main"/>
  </p:clrMapOvr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Acknowledgments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Built with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9c27dc5636e24d64"/>
              </a:rPr>
              <a:t>Markdig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by Alexandre Mutel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Uses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a667d6a36cc74163"/>
              </a:rPr>
              <a:t>DocumentFormat.OpenXml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by Microsoft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Implements </a:t>
            </a:r>
            <a:r>
              <a:rPr lang="en-US" sz="1800" u="sng" dirty="0">
                <a:solidFill>
                  <a:srgbClr val="2E86DE"/>
                </a:solidFill>
                <a:latin typeface="Segoe UI"/>
                <a:hlinkClick xmlns:r="http://schemas.openxmlformats.org/officeDocument/2006/relationships" r:id="Rbeb6d20e6bd24641"/>
              </a:rPr>
              <a:t>CommonMark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specification</a:t>
            </a:r>
          </a:p>
        </p:txBody>
      </p:sp>
    </p:spTree>
  </p:cSld>
  <p:clrMapOvr>
    <a:masterClrMapping xmlns:a="http://schemas.openxmlformats.org/drawingml/2006/main"/>
  </p:clrMapOvr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Accent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71600"/>
            <a:ext cx="914400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6D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Tit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74638"/>
            <a:ext cx="7863840" cy="8223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ctr"/>
          <a:lstStyle xmlns:a="http://schemas.openxmlformats.org/drawingml/2006/main"/>
          <a:p xmlns:a="http://schemas.openxmlformats.org/drawingml/2006/main">
            <a:r>
              <a:rPr lang="en-US" sz="3000" b="0" dirty="0">
                <a:solidFill>
                  <a:srgbClr val="2D2D2D"/>
                </a:solidFill>
                <a:latin typeface="Segoe UI"/>
              </a:rPr>
              <a:t>Status</a:t>
            </a:r>
          </a:p>
        </p:txBody>
      </p:sp>
      <p:sp>
        <p:nvSpPr>
          <p:cNvPr id="5" name="Conten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46238"/>
            <a:ext cx="7863840" cy="4846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rtlCol="0" anchor="t"/>
          <a:lstStyle xmlns:a="http://schemas.openxmlformats.org/drawingml/2006/main"/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🚀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Beta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- Core functionality and CLI are fully working with comprehensive CommonMark support.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Fully supported: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Headings, paragraphs, emphasis (bold/italic)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Code blocks (fenced and indented) with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syntax highlighting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(JSON, TypeSpec, Bash)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Inline code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Links and hyperlinks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Block quotes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Horizontal rules / thematic breaks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Lists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(ordered, unordered, nested with proper numbering)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Images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(local files and URLs with fallback support)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b="1" dirty="0">
                <a:solidFill>
                  <a:srgbClr val="2D2D2D"/>
                </a:solidFill>
                <a:latin typeface="Segoe UI"/>
              </a:rPr>
              <a:t>Tables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(with headers, borders, and shading)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Command-line interface with full options</a:t>
            </a:r>
          </a:p>
          <a:p xmlns:a="http://schemas.openxmlformats.org/drawingml/2006/main">
            <a:pPr marL="457200" indent="-228600">
              <a:spcBef>
                <a:spcPts val="100"/>
              </a:spcBef>
            </a:pPr>
            <a:r>
              <a:rPr lang="en-US" sz="1800" dirty="0">
                <a:solidFill>
                  <a:srgbClr val="2D2D2D"/>
                </a:solidFill>
                <a:latin typeface="Segoe UI"/>
              </a:rPr>
              <a:t>• 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Spell/grammar check suppression for code</a:t>
            </a:r>
          </a:p>
          <a:p xmlns:a="http://schemas.openxmlformats.org/drawingml/2006/main">
            <a:r>
              <a:rPr lang="en-US" sz="1800" b="1" dirty="0">
                <a:solidFill>
                  <a:srgbClr val="2D2D2D"/>
                </a:solidFill>
                <a:latin typeface="Segoe UI"/>
              </a:rPr>
              <a:t>Coming soon:</a:t>
            </a:r>
            <a:r>
              <a:rPr lang="en-US" sz="1800" dirty="0">
                <a:solidFill>
                  <a:srgbClr val="2D2D2D"/>
                </a:solidFill>
                <a:latin typeface="Segoe UI"/>
              </a:rPr>
              <a:t> Task lists, footnotes, definition lists</a:t>
            </a:r>
          </a:p>
          <a:p xmlns:a="http://schemas.openxmlformats.org/drawingml/2006/main">
            <a:r>
              <a:rPr lang="en-US" sz="1800" dirty="0">
                <a:solidFill>
                  <a:srgbClr val="2D2D2D"/>
                </a:solidFill>
                <a:latin typeface="Segoe UI"/>
              </a:rPr>
              <a:t>Generated with ❤️ using Claude Code</a:t>
            </a:r>
          </a:p>
        </p:txBody>
      </p:sp>
    </p:spTree>
  </p:cSld>
  <p:clrMapOvr>
    <a:masterClrMapping xmlns:a="http://schemas.openxmlformats.org/drawingml/2006/main"/>
  </p:clrMapOvr>
</p:sld>
</file>